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image/ico" Extension="ico"/>
  <Default ContentType="image/bmp" Extension="bmp"/>
  <Default ContentType="image/gif" Extension="gif"/>
  <Default ContentType="image/tiff" Extension="tiff"/>
  <Default ContentType="image/wmf" Extension="wmf"/>
  <Default ContentType="image/emf" Extension="emf"/>
  <Default ContentType="application/vnd.openxmlformats-package.relationships+xml" Extension="rels"/>
  <Default ContentType="application/xml" Extension="xml"/>
  <Default ContentType="application/octet-stream" Extension="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Id="rId3" Target="docProps/core.xml" Type="http://schemas.openxmlformats.org/package/2006/relationships/metadata/core-properties"/>
  <Relationship Id="rId2" Target="docProps/thumbnail.jpeg" Type="http://schemas.openxmlformats.org/package/2006/relationships/metadata/thumbnail"/>
  <Relationship Id="rId1" Target="ppt/presentation.xml" Type="http://schemas.openxmlformats.org/officeDocument/2006/relationships/officeDocument"/>
  <Relationship Id="rId4" Target="docProps/app.xml" Type="http://schemas.openxmlformats.org/officeDocument/2006/relationships/extended-properties"/>
</Relationships>
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saveSubsetFonts="1">
  <p:sldMasterIdLst>
    <p:sldMasterId r:id="rId1" id="2147483648"/>
  </p:sldMasterIdLst>
  <p:sldIdLst>
    <p:sldId r:id="rId6" id="256"/>
    <p:sldId r:id="rId7" id="257"/>
    <p:sldId r:id="rId8" id="258"/>
    <p:sldId r:id="rId9" id="259"/>
    <p:sldId r:id="rId10" id="260"/>
  </p:sldIdLst>
  <p:sldSz type="screen4x3" cx="9144000" cy="6858000"/>
  <p:notesSz cx="6858000" cy="9144000"/>
  <p:defaultTextStyle>
    <a:defPPr>
      <a:defRPr lang="zh-tw"/>
    </a:defPPr>
    <a:lvl1pPr marL="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hangingPunct="1" defTabSz="914400" rtl="0" latinLnBrk="0" ea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p="http://schemas.openxmlformats.org/presentationml/2006/main" xmlns:a="http://schemas.openxmlformats.org/drawing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r="http://schemas.openxmlformats.org/officeDocument/2006/relationships" xmlns:p="http://schemas.openxmlformats.org/presentationml/2006/main" xmlns:a="http://schemas.openxmlformats.org/drawingml/2006/main">
  <p:normalViewPr horzBarState="maximized">
    <p:restoredLeft autoAdjust="0" sz="19958"/>
    <p:restoredTop sz="94660"/>
  </p:normalViewPr>
  <p:slideViewPr>
    <p:cSldViewPr snapToGrid="0">
      <p:cViewPr varScale="1">
        <p:scale>
          <a:sx n="75" d="100"/>
          <a:sy n="75" d="100"/>
        </p:scale>
        <p:origin y="288" x="66"/>
      </p:cViewPr>
      <p:guideLst/>
    </p:cSldViewPr>
  </p:slideViewPr>
  <p:notesTextViewPr>
    <p:cViewPr>
      <p:scale>
        <a:sx n="1" d="1"/>
        <a:sy n="1" d="1"/>
      </p:scale>
      <p:origin y="0" x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
  <Relationship Id="rId1" Target="slideMasters/slideMaster1.xml" Type="http://schemas.openxmlformats.org/officeDocument/2006/relationships/slideMaster"/>
  <Relationship Id="rId2" Target="tableStyles.xml" Type="http://schemas.openxmlformats.org/officeDocument/2006/relationships/tableStyles"/>
  <Relationship Id="rId3" Target="theme/theme1.xml" Type="http://schemas.openxmlformats.org/officeDocument/2006/relationships/theme"/>
  <Relationship Id="rId4" Target="viewProps.xml" Type="http://schemas.openxmlformats.org/officeDocument/2006/relationships/viewProps"/>
  <Relationship Id="rId5" Target="presProps.xml" Type="http://schemas.openxmlformats.org/officeDocument/2006/relationships/presProps"/>
  <Relationship Id="rId6" Target="slides/slide1.xml" Type="http://schemas.openxmlformats.org/officeDocument/2006/relationships/slide"/>
  <Relationship Id="rId7" Target="slides/slide2.xml" Type="http://schemas.openxmlformats.org/officeDocument/2006/relationships/slide"/>
  <Relationship Id="rId8" Target="slides/slide3.xml" Type="http://schemas.openxmlformats.org/officeDocument/2006/relationships/slide"/>
  <Relationship Id="rId9" Target="slides/slide4.xml" Type="http://schemas.openxmlformats.org/officeDocument/2006/relationships/slide"/>
  <Relationship Id="rId10" Target="slides/slide5.xml" Type="http://schemas.openxmlformats.org/officeDocument/2006/relationships/slide"/>
</Relationships>

</file>

<file path=ppt/slideLayouts/_rels/slideLayout1.xml.rels><?xml version="1.0" encoding="UTF-8" standalone="yes"?>
<Relationships xmlns="http://schemas.openxmlformats.org/package/2006/relationships">
  <Relationship Id="rId1" Target="../slideMasters/slideMaster1.xml" Type="http://schemas.openxmlformats.org/officeDocument/2006/relationships/slideMaster"/>
</Relationships>

</file>

<file path=ppt/slideLayouts/slideLayout1.xml><?xml version="1.0" encoding="utf-8"?>
<p:sldLayout xmlns:r="http://schemas.openxmlformats.org/officeDocument/2006/relationships" xmlns:p="http://schemas.openxmlformats.org/presentationml/2006/main" xmlns:a="http://schemas.openxmlformats.org/drawingml/2006/main" type="tx">
  <p:cSld>
    <p:spTree>
      <p:nvGrpSpPr>
        <p:cNvPr name="" id="1"/>
        <p:cNvGrpSpPr/>
        <p:nvPr/>
      </p:nvGrpSpPr>
      <p:grpSpPr>
        <a:xfrm>
          <a:off y="0" x="0"/>
          <a:ext cx="0" cy="0"/>
          <a:chOff y="0" x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2708C-2602-4C50-90B3-38403DD6A526}" type="datetimeFigureOut">
              <a:rPr lang="zh-CN" altLang="en-US" smtClean="0"/>
              <a:t>2016/11/23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E20AC-CFD9-4F54-B258-06C9616827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2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3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4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5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name="頁面-2" id="30000010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grpSp>
        <p:nvGrpSpPr>
          <p:cNvPr name="Group188" id="188"/>
          <p:cNvGrpSpPr/>
          <p:nvPr/>
        </p:nvGrpSpPr>
        <p:grpSpPr>
          <a:xfrm>
            <a:off y="1024936" x="356369"/>
            <a:ext cx="8414484" cy="4798560"/>
            <a:chOff y="1024936" x="356369"/>
            <a:chExt cx="8414484" cy="4798560"/>
          </a:xfrm>
        </p:grpSpPr>
        <p:sp>
          <p:nvSpPr>
            <p:cNvPr name="RelatConnector" id="138"/>
            <p:cNvSpPr/>
            <p:nvPr/>
          </p:nvSpPr>
          <p:spPr>
            <a:xfrm>
              <a:off y="3973710" x="6115768"/>
              <a:ext cx="878844" cy="539602"/>
            </a:xfrm>
            <a:custGeom>
              <a:avLst/>
              <a:gdLst>
                <a:gd fmla="*/ -178149 w 878844" name="rtl"/>
                <a:gd fmla="*/ -121276 h 539602" name="rtt"/>
                <a:gd fmla="*/ 152571 w 878844" name="rtr"/>
                <a:gd fmla="*/ 109604 h 539602" name="rtb"/>
              </a:gdLst>
              <a:rect l="rtl" t="rtt" r="rtr" b="rtb"/>
              <a:pathLst>
                <a:path w="878844" fill="none" h="539602">
                  <a:moveTo>
                    <a:pt y="-269797" x="-439422"/>
                  </a:moveTo>
                  <a:cubicBezTo>
                    <a:pt y="-272133" x="-416336"/>
                    <a:pt y="256571" x="382233"/>
                    <a:pt y="269797" x="439422"/>
                  </a:cubicBezTo>
                </a:path>
              </a:pathLst>
            </a:custGeom>
            <a:noFill/>
            <a:ln cap="rnd" w="15600">
              <a:solidFill>
                <a:srgbClr val="35B58F"/>
              </a:solidFill>
              <a:round/>
              <a:tailEnd type="stealth" len="sm" w="sm"/>
            </a:ln>
          </p:spPr>
        </p:sp>
        <p:sp>
          <p:nvSpPr>
            <p:cNvPr name="RelatConnector" id="139"/>
            <p:cNvSpPr/>
            <p:nvPr/>
          </p:nvSpPr>
          <p:spPr>
            <a:xfrm>
              <a:off y="3591135" x="5942437"/>
              <a:ext cx="1965053" cy="1304745"/>
            </a:xfrm>
            <a:custGeom>
              <a:avLst/>
              <a:gdLst>
                <a:gd fmla="*/ -95047 w 1965053" name="rtl"/>
                <a:gd fmla="*/ -80897 h 1304745" name="rtt"/>
                <a:gd fmla="*/ 235673 w 1965053" name="rtr"/>
                <a:gd fmla="*/ 149983 h 1304745" name="rtb"/>
              </a:gdLst>
              <a:rect l="rtl" t="rtt" r="rtr" b="rtb"/>
              <a:pathLst>
                <a:path w="1965053" fill="none" h="1304745">
                  <a:moveTo>
                    <a:pt y="-652372" x="-982527"/>
                  </a:moveTo>
                  <a:cubicBezTo>
                    <a:pt y="-358317" x="-577586"/>
                    <a:pt y="450433" x="765088"/>
                    <a:pt y="652372" x="982527"/>
                  </a:cubicBezTo>
                </a:path>
              </a:pathLst>
            </a:custGeom>
            <a:noFill/>
            <a:ln cap="rnd" w="15600">
              <a:solidFill>
                <a:srgbClr val="35B58F"/>
              </a:solidFill>
              <a:round/>
              <a:tailEnd type="stealth" len="sm" w="sm"/>
            </a:ln>
          </p:spPr>
        </p:sp>
        <p:sp>
          <p:nvSpPr>
            <p:cNvPr name="MMConnector" id="144"/>
            <p:cNvSpPr/>
            <p:nvPr/>
          </p:nvSpPr>
          <p:spPr>
            <a:xfrm>
              <a:off y="4302836" x="2825818"/>
              <a:ext cx="1245191" cy="1350472"/>
            </a:xfrm>
            <a:custGeom>
              <a:avLst/>
              <a:gdLst/>
              <a:pathLst>
                <a:path w="1245191" fill="none" h="1350472">
                  <a:moveTo>
                    <a:pt y="-530156" x="-266041"/>
                  </a:moveTo>
                  <a:cubicBezTo>
                    <a:pt y="20594" x="-129786"/>
                    <a:pt y="820316" x="335109"/>
                    <a:pt y="820316" x="979150"/>
                  </a:cubicBezTo>
                </a:path>
              </a:pathLst>
            </a:custGeom>
            <a:noFill/>
            <a:ln cap="rnd" w="23400">
              <a:solidFill>
                <a:srgbClr val="696969"/>
              </a:solidFill>
              <a:round/>
            </a:ln>
          </p:spPr>
        </p:sp>
        <p:sp>
          <p:nvSpPr>
            <p:cNvPr name="MMConnector" id="145"/>
            <p:cNvSpPr/>
            <p:nvPr/>
          </p:nvSpPr>
          <p:spPr>
            <a:xfrm>
              <a:off y="3639933" x="2825818"/>
              <a:ext cx="559481" cy="128069"/>
            </a:xfrm>
            <a:custGeom>
              <a:avLst/>
              <a:gdLst/>
              <a:pathLst>
                <a:path w="559481" fill="none" h="128069">
                  <a:moveTo>
                    <a:pt y="29345" x="419669"/>
                  </a:moveTo>
                  <a:cubicBezTo>
                    <a:pt y="98952" x="552319"/>
                    <a:pt y="157414" x="745694"/>
                    <a:pt y="157414" x="979150"/>
                  </a:cubicBezTo>
                </a:path>
              </a:pathLst>
            </a:custGeom>
            <a:noFill/>
            <a:ln cap="rnd" w="23400">
              <a:solidFill>
                <a:srgbClr val="696969"/>
              </a:solidFill>
              <a:round/>
            </a:ln>
          </p:spPr>
        </p:sp>
        <p:sp>
          <p:nvSpPr>
            <p:cNvPr name="MMConnector" id="146"/>
            <p:cNvSpPr/>
            <p:nvPr/>
          </p:nvSpPr>
          <p:spPr>
            <a:xfrm>
              <a:off y="3116261" x="2825818"/>
              <a:ext cx="902809" cy="442357"/>
            </a:xfrm>
            <a:custGeom>
              <a:avLst/>
              <a:gdLst/>
              <a:pathLst>
                <a:path w="902809" fill="none" h="442357">
                  <a:moveTo>
                    <a:pt y="76099" x="76341"/>
                  </a:moveTo>
                  <a:cubicBezTo>
                    <a:pt y="-140166" x="245577"/>
                    <a:pt y="-366259" x="566719"/>
                    <a:pt y="-366259" x="979150"/>
                  </a:cubicBezTo>
                </a:path>
              </a:pathLst>
            </a:custGeom>
            <a:noFill/>
            <a:ln cap="rnd" w="23400">
              <a:solidFill>
                <a:srgbClr val="696969"/>
              </a:solidFill>
              <a:round/>
            </a:ln>
          </p:spPr>
        </p:sp>
        <p:sp>
          <p:nvSpPr>
            <p:cNvPr name="MMConnector" id="147"/>
            <p:cNvSpPr/>
            <p:nvPr/>
          </p:nvSpPr>
          <p:spPr>
            <a:xfrm>
              <a:off y="2662203" x="2825818"/>
              <a:ext cx="1245191" cy="1350472"/>
            </a:xfrm>
            <a:custGeom>
              <a:avLst/>
              <a:gdLst/>
              <a:pathLst>
                <a:path w="1245191" fill="none" h="1350472">
                  <a:moveTo>
                    <a:pt y="530156" x="-266041"/>
                  </a:moveTo>
                  <a:cubicBezTo>
                    <a:pt y="-20594" x="-129786"/>
                    <a:pt y="-820316" x="335109"/>
                    <a:pt y="-820316" x="979150"/>
                  </a:cubicBezTo>
                </a:path>
              </a:pathLst>
            </a:custGeom>
            <a:noFill/>
            <a:ln cap="rnd" w="23400">
              <a:solidFill>
                <a:srgbClr val="696969"/>
              </a:solidFill>
              <a:round/>
            </a:ln>
          </p:spPr>
        </p:sp>
        <p:sp>
          <p:nvSpPr>
            <p:cNvPr name="MMConnector" id="148"/>
            <p:cNvSpPr/>
            <p:nvPr/>
          </p:nvSpPr>
          <p:spPr>
            <a:xfrm>
              <a:off y="4740270" x="5944024"/>
              <a:ext cx="273780" cy="765765"/>
            </a:xfrm>
            <a:custGeom>
              <a:avLst/>
              <a:gdLst/>
              <a:pathLst>
                <a:path w="273780" fill="none" h="765765">
                  <a:moveTo>
                    <a:pt y="382882" x="-136890"/>
                  </a:moveTo>
                  <a:lnTo>
                    <a:pt y="382882" x="-51090"/>
                  </a:lnTo>
                  <a:cubicBezTo>
                    <a:pt y="76576" x="-51090"/>
                    <a:pt y="-382882" x="24102"/>
                    <a:pt y="-382882" x="136890"/>
                  </a:cubicBezTo>
                </a:path>
              </a:pathLst>
            </a:custGeom>
            <a:noFill/>
            <a:ln cap="rnd" w="7800">
              <a:solidFill>
                <a:srgbClr val="35B58F"/>
              </a:solidFill>
              <a:round/>
            </a:ln>
          </p:spPr>
        </p:sp>
        <p:sp>
          <p:nvSpPr>
            <p:cNvPr name="MMConnector" id="149"/>
            <p:cNvSpPr/>
            <p:nvPr/>
          </p:nvSpPr>
          <p:spPr>
            <a:xfrm>
              <a:off y="4879500" x="5944024"/>
              <a:ext cx="187980" cy="487305"/>
            </a:xfrm>
            <a:custGeom>
              <a:avLst/>
              <a:gdLst/>
              <a:pathLst>
                <a:path w="187980" fill="none" h="487305">
                  <a:moveTo>
                    <a:pt y="243652" x="-51090"/>
                  </a:moveTo>
                  <a:cubicBezTo>
                    <a:pt y="48731" x="-51090"/>
                    <a:pt y="-243652" x="24102"/>
                    <a:pt y="-243652" x="136890"/>
                  </a:cubicBezTo>
                </a:path>
              </a:pathLst>
            </a:custGeom>
            <a:noFill/>
            <a:ln cap="rnd" w="7800">
              <a:solidFill>
                <a:srgbClr val="C00000"/>
              </a:solidFill>
              <a:round/>
            </a:ln>
          </p:spPr>
        </p:sp>
        <p:sp>
          <p:nvSpPr>
            <p:cNvPr name="MMConnector" id="150"/>
            <p:cNvSpPr/>
            <p:nvPr/>
          </p:nvSpPr>
          <p:spPr>
            <a:xfrm>
              <a:off y="5018730" x="5944024"/>
              <a:ext cx="187980" cy="208845"/>
            </a:xfrm>
            <a:custGeom>
              <a:avLst/>
              <a:gdLst/>
              <a:pathLst>
                <a:path w="187980" fill="none" h="208845">
                  <a:moveTo>
                    <a:pt y="104422" x="-51090"/>
                  </a:moveTo>
                  <a:cubicBezTo>
                    <a:pt y="20884" x="-51090"/>
                    <a:pt y="-104422" x="24102"/>
                    <a:pt y="-104422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51"/>
            <p:cNvSpPr/>
            <p:nvPr/>
          </p:nvSpPr>
          <p:spPr>
            <a:xfrm>
              <a:off y="5157960" x="5944024"/>
              <a:ext cx="187980" cy="69615"/>
            </a:xfrm>
            <a:custGeom>
              <a:avLst/>
              <a:gdLst/>
              <a:pathLst>
                <a:path w="187980" fill="none" h="69615">
                  <a:moveTo>
                    <a:pt y="-34808" x="-51090"/>
                  </a:moveTo>
                  <a:cubicBezTo>
                    <a:pt y="-6961" x="-51090"/>
                    <a:pt y="34808" x="24102"/>
                    <a:pt y="34808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52"/>
            <p:cNvSpPr/>
            <p:nvPr/>
          </p:nvSpPr>
          <p:spPr>
            <a:xfrm>
              <a:off y="5506035" x="5944024"/>
              <a:ext cx="187980" cy="765765"/>
            </a:xfrm>
            <a:custGeom>
              <a:avLst/>
              <a:gdLst/>
              <a:pathLst>
                <a:path w="187980" fill="none" h="765765">
                  <a:moveTo>
                    <a:pt y="-382883" x="-51090"/>
                  </a:moveTo>
                  <a:cubicBezTo>
                    <a:pt y="-76576" x="-51090"/>
                    <a:pt y="382883" x="24102"/>
                    <a:pt y="382883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53"/>
            <p:cNvSpPr/>
            <p:nvPr/>
          </p:nvSpPr>
          <p:spPr>
            <a:xfrm>
              <a:off y="5819302" x="7327463"/>
              <a:ext cx="187980" cy="139230"/>
            </a:xfrm>
            <a:custGeom>
              <a:avLst/>
              <a:gdLst/>
              <a:pathLst>
                <a:path w="187980" fill="none" h="139230">
                  <a:moveTo>
                    <a:pt y="69615" x="-51090"/>
                  </a:moveTo>
                  <a:cubicBezTo>
                    <a:pt y="13923" x="-51090"/>
                    <a:pt y="-69615" x="24102"/>
                    <a:pt y="-69615" x="136890"/>
                  </a:cubicBezTo>
                </a:path>
              </a:pathLst>
            </a:custGeom>
            <a:noFill/>
            <a:ln cap="rnd" w="7800">
              <a:solidFill>
                <a:srgbClr val="F0C43D"/>
              </a:solidFill>
              <a:round/>
            </a:ln>
          </p:spPr>
        </p:sp>
        <p:sp>
          <p:nvSpPr>
            <p:cNvPr name="MMConnector" id="154"/>
            <p:cNvSpPr/>
            <p:nvPr/>
          </p:nvSpPr>
          <p:spPr>
            <a:xfrm>
              <a:off y="6097762" x="7327463"/>
              <a:ext cx="187980" cy="417690"/>
            </a:xfrm>
            <a:custGeom>
              <a:avLst/>
              <a:gdLst/>
              <a:pathLst>
                <a:path w="187980" fill="none" h="417690">
                  <a:moveTo>
                    <a:pt y="-208845" x="-51090"/>
                  </a:moveTo>
                  <a:cubicBezTo>
                    <a:pt y="-41769" x="-51090"/>
                    <a:pt y="208845" x="24102"/>
                    <a:pt y="208845" x="136890"/>
                  </a:cubicBezTo>
                </a:path>
              </a:pathLst>
            </a:custGeom>
            <a:noFill/>
            <a:ln cap="rnd" w="7800">
              <a:solidFill>
                <a:srgbClr val="F0C43D"/>
              </a:solidFill>
              <a:round/>
            </a:ln>
          </p:spPr>
        </p:sp>
        <p:sp>
          <p:nvSpPr>
            <p:cNvPr name="MMConnector" id="155"/>
            <p:cNvSpPr/>
            <p:nvPr/>
          </p:nvSpPr>
          <p:spPr>
            <a:xfrm>
              <a:off y="5958532" x="7327463"/>
              <a:ext cx="187980" cy="139230"/>
            </a:xfrm>
            <a:custGeom>
              <a:avLst/>
              <a:gdLst/>
              <a:pathLst>
                <a:path w="187980" fill="none" h="139230">
                  <a:moveTo>
                    <a:pt y="-69615" x="-51090"/>
                  </a:moveTo>
                  <a:cubicBezTo>
                    <a:pt y="-13923" x="-51090"/>
                    <a:pt y="69615" x="24102"/>
                    <a:pt y="69615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56"/>
            <p:cNvSpPr/>
            <p:nvPr/>
          </p:nvSpPr>
          <p:spPr>
            <a:xfrm>
              <a:off y="5680072" x="7327463"/>
              <a:ext cx="273780" cy="417690"/>
            </a:xfrm>
            <a:custGeom>
              <a:avLst/>
              <a:gdLst/>
              <a:pathLst>
                <a:path w="273780" fill="none" h="417690">
                  <a:moveTo>
                    <a:pt y="208845" x="-136890"/>
                  </a:moveTo>
                  <a:lnTo>
                    <a:pt y="208845" x="-51090"/>
                  </a:lnTo>
                  <a:cubicBezTo>
                    <a:pt y="41769" x="-51090"/>
                    <a:pt y="-208845" x="24102"/>
                    <a:pt y="-208845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61"/>
            <p:cNvSpPr/>
            <p:nvPr/>
          </p:nvSpPr>
          <p:spPr>
            <a:xfrm>
              <a:off y="5192767" x="7252583"/>
              <a:ext cx="273780" cy="7800"/>
            </a:xfrm>
            <a:custGeom>
              <a:avLst/>
              <a:gdLst/>
              <a:pathLst>
                <a:path w="273780" fill="none" h="7800">
                  <a:moveTo>
                    <a:pt y="0" x="-136890"/>
                  </a:moveTo>
                  <a:lnTo>
                    <a:pt y="0" x="-51090"/>
                  </a:lnTo>
                  <a:cubicBezTo>
                    <a:pt y="0" x="-51090"/>
                    <a:pt y="0" x="24102"/>
                    <a:pt y="0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64"/>
            <p:cNvSpPr/>
            <p:nvPr/>
          </p:nvSpPr>
          <p:spPr>
            <a:xfrm>
              <a:off y="2575965" x="5731864"/>
              <a:ext cx="273780" cy="348075"/>
            </a:xfrm>
            <a:custGeom>
              <a:avLst/>
              <a:gdLst/>
              <a:pathLst>
                <a:path w="273780" fill="none" h="348075">
                  <a:moveTo>
                    <a:pt y="174038" x="-136890"/>
                  </a:moveTo>
                  <a:lnTo>
                    <a:pt y="174038" x="-51090"/>
                  </a:lnTo>
                  <a:cubicBezTo>
                    <a:pt y="34807" x="-51090"/>
                    <a:pt y="-174037" x="24102"/>
                    <a:pt y="-174037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65"/>
            <p:cNvSpPr/>
            <p:nvPr/>
          </p:nvSpPr>
          <p:spPr>
            <a:xfrm>
              <a:off y="2715195" x="5731864"/>
              <a:ext cx="187980" cy="69615"/>
            </a:xfrm>
            <a:custGeom>
              <a:avLst/>
              <a:gdLst/>
              <a:pathLst>
                <a:path w="187980" fill="none" h="69615">
                  <a:moveTo>
                    <a:pt y="34807" x="-51090"/>
                  </a:moveTo>
                  <a:cubicBezTo>
                    <a:pt y="6961" x="-51090"/>
                    <a:pt y="-34807" x="24102"/>
                    <a:pt y="-34807" x="136890"/>
                  </a:cubicBezTo>
                </a:path>
              </a:pathLst>
            </a:custGeom>
            <a:noFill/>
            <a:ln cap="rnd" w="7800">
              <a:solidFill>
                <a:srgbClr val="C00000"/>
              </a:solidFill>
              <a:round/>
            </a:ln>
          </p:spPr>
        </p:sp>
        <p:sp>
          <p:nvSpPr>
            <p:cNvPr name="MMConnector" id="166"/>
            <p:cNvSpPr/>
            <p:nvPr/>
          </p:nvSpPr>
          <p:spPr>
            <a:xfrm>
              <a:off y="2924040" x="5731864"/>
              <a:ext cx="187980" cy="348075"/>
            </a:xfrm>
            <a:custGeom>
              <a:avLst/>
              <a:gdLst/>
              <a:pathLst>
                <a:path w="187980" fill="none" h="348075">
                  <a:moveTo>
                    <a:pt y="-174038" x="-51090"/>
                  </a:moveTo>
                  <a:cubicBezTo>
                    <a:pt y="-34808" x="-51090"/>
                    <a:pt y="174038" x="24102"/>
                    <a:pt y="174038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MConnector" id="167"/>
            <p:cNvSpPr/>
            <p:nvPr/>
          </p:nvSpPr>
          <p:spPr>
            <a:xfrm>
              <a:off y="3028462" x="8088743"/>
              <a:ext cx="273780" cy="139230"/>
            </a:xfrm>
            <a:custGeom>
              <a:avLst/>
              <a:gdLst/>
              <a:pathLst>
                <a:path w="273780" fill="none" h="139230">
                  <a:moveTo>
                    <a:pt y="69615" x="-136890"/>
                  </a:moveTo>
                  <a:lnTo>
                    <a:pt y="69615" x="-51090"/>
                  </a:lnTo>
                  <a:cubicBezTo>
                    <a:pt y="13923" x="-51090"/>
                    <a:pt y="-69615" x="24102"/>
                    <a:pt y="-69615" x="136890"/>
                  </a:cubicBezTo>
                </a:path>
              </a:pathLst>
            </a:custGeom>
            <a:noFill/>
            <a:ln cap="rnd" w="7800">
              <a:solidFill>
                <a:srgbClr val="F0C43D"/>
              </a:solidFill>
              <a:round/>
            </a:ln>
          </p:spPr>
        </p:sp>
        <p:sp>
          <p:nvSpPr>
            <p:cNvPr name="MMConnector" id="168"/>
            <p:cNvSpPr/>
            <p:nvPr/>
          </p:nvSpPr>
          <p:spPr>
            <a:xfrm>
              <a:off y="3167692" x="8088743"/>
              <a:ext cx="187980" cy="139230"/>
            </a:xfrm>
            <a:custGeom>
              <a:avLst/>
              <a:gdLst/>
              <a:pathLst>
                <a:path w="187980" fill="none" h="139230">
                  <a:moveTo>
                    <a:pt y="-69615" x="-51090"/>
                  </a:moveTo>
                  <a:cubicBezTo>
                    <a:pt y="-13923" x="-51090"/>
                    <a:pt y="69615" x="24102"/>
                    <a:pt y="69615" x="136890"/>
                  </a:cubicBezTo>
                </a:path>
              </a:pathLst>
            </a:custGeom>
            <a:noFill/>
            <a:ln cap="rnd" w="7800">
              <a:solidFill>
                <a:srgbClr val="7C49FA"/>
              </a:solidFill>
              <a:round/>
            </a:ln>
          </p:spPr>
        </p:sp>
        <p:sp>
          <p:nvSpPr>
            <p:cNvPr name="MainTopic" id="109"/>
            <p:cNvSpPr/>
            <p:nvPr/>
          </p:nvSpPr>
          <p:spPr>
            <a:xfrm>
              <a:off y="1653127" x="3804967"/>
              <a:ext cx="3805526" cy="377520"/>
            </a:xfrm>
            <a:custGeom>
              <a:avLst/>
              <a:gdLst>
                <a:gd fmla="*/ 192223 w 3805526" name="rtl"/>
                <a:gd fmla="*/ 77220 h 377520" name="rtt"/>
                <a:gd fmla="*/ 3617984 w 3805526" name="rtr"/>
                <a:gd fmla="*/ 314340 h 377520" name="rtb"/>
              </a:gdLst>
              <a:ahLst/>
              <a:cxnLst/>
              <a:rect l="rtl" t="rtt" r="rtr" b="rtb"/>
              <a:pathLst>
                <a:path w="3805526" h="377520">
                  <a:moveTo>
                    <a:pt y="0" x="188760"/>
                  </a:moveTo>
                  <a:lnTo>
                    <a:pt y="0" x="3616766"/>
                  </a:lnTo>
                  <a:cubicBezTo>
                    <a:pt y="0" x="3721019"/>
                    <a:pt y="84508" x="3805526"/>
                    <a:pt y="188760" x="3805526"/>
                  </a:cubicBezTo>
                  <a:cubicBezTo>
                    <a:pt y="293012" x="3805526"/>
                    <a:pt y="377520" x="3721019"/>
                    <a:pt y="377520" x="3616766"/>
                  </a:cubicBezTo>
                  <a:lnTo>
                    <a:pt y="377520" x="188760"/>
                  </a:lnTo>
                  <a:cubicBezTo>
                    <a:pt y="377520" x="84508"/>
                    <a:pt y="293012" x="0"/>
                    <a:pt y="188760" x="0"/>
                  </a:cubicBezTo>
                  <a:cubicBezTo>
                    <a:pt y="84508" x="0"/>
                    <a:pt y="0" x="84508"/>
                    <a:pt y="0" x="188760"/>
                  </a:cubicBezTo>
                  <a:close/>
                </a:path>
              </a:pathLst>
            </a:custGeom>
            <a:solidFill>
              <a:srgbClr val="A8DF41"/>
            </a:solidFill>
            <a:ln cap="flat" w="23400">
              <a:solidFill>
                <a:srgbClr val="A8DF41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1264">
                  <a:solidFill>
                    <a:srgbClr val="FFFFFF"/>
                  </a:solidFill>
                  <a:latin typeface="標楷體"/>
                </a:rPr>
                <a:t>Rare-Earth Ore Supply And Demand</a:t>
              </a:r>
            </a:p>
          </p:txBody>
        </p:sp>
        <p:sp>
          <p:nvSpPr>
            <p:cNvPr name="MainTopic" id="110"/>
            <p:cNvSpPr/>
            <p:nvPr/>
          </p:nvSpPr>
          <p:spPr>
            <a:xfrm>
              <a:off y="2561242" x="3804967"/>
              <a:ext cx="1790006" cy="377520"/>
            </a:xfrm>
            <a:custGeom>
              <a:avLst/>
              <a:gdLst>
                <a:gd fmla="*/ 192223 w 1790006" name="rtl"/>
                <a:gd fmla="*/ 77220 h 377520" name="rtt"/>
                <a:gd fmla="*/ 1602463 w 1790006" name="rtr"/>
                <a:gd fmla="*/ 314340 h 377520" name="rtb"/>
              </a:gdLst>
              <a:ahLst/>
              <a:cxnLst/>
              <a:rect l="rtl" t="rtt" r="rtr" b="rtb"/>
              <a:pathLst>
                <a:path w="1790006" h="377520">
                  <a:moveTo>
                    <a:pt y="0" x="188760"/>
                  </a:moveTo>
                  <a:lnTo>
                    <a:pt y="0" x="1601246"/>
                  </a:lnTo>
                  <a:cubicBezTo>
                    <a:pt y="0" x="1705499"/>
                    <a:pt y="84508" x="1790006"/>
                    <a:pt y="188760" x="1790006"/>
                  </a:cubicBezTo>
                  <a:cubicBezTo>
                    <a:pt y="293012" x="1790006"/>
                    <a:pt y="377520" x="1705499"/>
                    <a:pt y="377520" x="1601246"/>
                  </a:cubicBezTo>
                  <a:lnTo>
                    <a:pt y="377520" x="188760"/>
                  </a:lnTo>
                  <a:cubicBezTo>
                    <a:pt y="377520" x="84508"/>
                    <a:pt y="293012" x="0"/>
                    <a:pt y="188760" x="0"/>
                  </a:cubicBezTo>
                  <a:cubicBezTo>
                    <a:pt y="84508" x="0"/>
                    <a:pt y="0" x="84508"/>
                    <a:pt y="0" x="188760"/>
                  </a:cubicBezTo>
                  <a:close/>
                </a:path>
              </a:pathLst>
            </a:custGeom>
            <a:solidFill>
              <a:srgbClr val="35B58F"/>
            </a:solidFill>
            <a:ln cap="flat" w="23400">
              <a:solidFill>
                <a:srgbClr val="35B58F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1264">
                  <a:solidFill>
                    <a:srgbClr val="FFFFFF"/>
                  </a:solidFill>
                  <a:latin typeface="標楷體"/>
                </a:rPr>
                <a:t>Food Security</a:t>
              </a:r>
            </a:p>
          </p:txBody>
        </p:sp>
        <p:sp>
          <p:nvSpPr>
            <p:cNvPr name="MainIdea" id="111"/>
            <p:cNvSpPr/>
            <p:nvPr/>
          </p:nvSpPr>
          <p:spPr>
            <a:xfrm>
              <a:off y="3192360" x="379769"/>
              <a:ext cx="2933798" cy="580320"/>
            </a:xfrm>
            <a:custGeom>
              <a:avLst/>
              <a:gdLst>
                <a:gd fmla="*/ 233719 w 2933798" name="rtl"/>
                <a:gd fmla="*/ 131820 h 580320" name="rtt"/>
                <a:gd fmla="*/ 2704759 w 2933798" name="rtr"/>
                <a:gd fmla="*/ 462540 h 580320" name="rtb"/>
              </a:gdLst>
              <a:ahLst/>
              <a:cxnLst/>
              <a:rect l="rtl" t="rtt" r="rtr" b="rtb"/>
              <a:pathLst>
                <a:path w="2933798" h="580320">
                  <a:moveTo>
                    <a:pt y="0" x="290160"/>
                  </a:moveTo>
                  <a:lnTo>
                    <a:pt y="0" x="2643638"/>
                  </a:lnTo>
                  <a:cubicBezTo>
                    <a:pt y="0" x="2803894"/>
                    <a:pt y="129905" x="2933798"/>
                    <a:pt y="290160" x="2933798"/>
                  </a:cubicBezTo>
                  <a:cubicBezTo>
                    <a:pt y="450415" x="2933798"/>
                    <a:pt y="580320" x="2803894"/>
                    <a:pt y="580320" x="2643638"/>
                  </a:cubicBezTo>
                  <a:lnTo>
                    <a:pt y="580320" x="290160"/>
                  </a:lnTo>
                  <a:cubicBezTo>
                    <a:pt y="580320" x="129905"/>
                    <a:pt y="450415" x="0"/>
                    <a:pt y="290160" x="0"/>
                  </a:cubicBezTo>
                  <a:cubicBezTo>
                    <a:pt y="129905" x="0"/>
                    <a:pt y="0" x="129905"/>
                    <a:pt y="0" x="290160"/>
                  </a:cubicBezTo>
                  <a:close/>
                </a:path>
              </a:pathLst>
            </a:custGeom>
            <a:solidFill>
              <a:srgbClr val="7C49FA"/>
            </a:solidFill>
            <a:ln cap="flat" w="234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1738">
                  <a:solidFill>
                    <a:srgbClr val="FFFFFF"/>
                  </a:solidFill>
                  <a:latin typeface="標楷體"/>
                </a:rPr>
                <a:t>Resource Security</a:t>
              </a:r>
            </a:p>
          </p:txBody>
        </p:sp>
        <p:sp>
          <p:nvSpPr>
            <p:cNvPr name="MainTopic" id="112"/>
            <p:cNvSpPr/>
            <p:nvPr/>
          </p:nvSpPr>
          <p:spPr>
            <a:xfrm>
              <a:off y="3608587" x="3804967"/>
              <a:ext cx="1896086" cy="377520"/>
            </a:xfrm>
            <a:custGeom>
              <a:avLst/>
              <a:gdLst>
                <a:gd fmla="*/ 192223 w 1896086" name="rtl"/>
                <a:gd fmla="*/ 77220 h 377520" name="rtt"/>
                <a:gd fmla="*/ 1708543 w 1896086" name="rtr"/>
                <a:gd fmla="*/ 314340 h 377520" name="rtb"/>
              </a:gdLst>
              <a:ahLst/>
              <a:cxnLst/>
              <a:rect l="rtl" t="rtt" r="rtr" b="rtb"/>
              <a:pathLst>
                <a:path w="1896086" h="377520">
                  <a:moveTo>
                    <a:pt y="0" x="188760"/>
                  </a:moveTo>
                  <a:lnTo>
                    <a:pt y="0" x="1707326"/>
                  </a:lnTo>
                  <a:cubicBezTo>
                    <a:pt y="0" x="1811579"/>
                    <a:pt y="84508" x="1896086"/>
                    <a:pt y="188760" x="1896086"/>
                  </a:cubicBezTo>
                  <a:cubicBezTo>
                    <a:pt y="293012" x="1896086"/>
                    <a:pt y="377520" x="1811579"/>
                    <a:pt y="377520" x="1707326"/>
                  </a:cubicBezTo>
                  <a:lnTo>
                    <a:pt y="377520" x="188760"/>
                  </a:lnTo>
                  <a:cubicBezTo>
                    <a:pt y="377520" x="84508"/>
                    <a:pt y="293012" x="0"/>
                    <a:pt y="188760" x="0"/>
                  </a:cubicBezTo>
                  <a:cubicBezTo>
                    <a:pt y="84508" x="0"/>
                    <a:pt y="0" x="84508"/>
                    <a:pt y="0" x="188760"/>
                  </a:cubicBezTo>
                  <a:close/>
                </a:path>
              </a:pathLst>
            </a:custGeom>
            <a:solidFill>
              <a:srgbClr val="F0C43D"/>
            </a:solidFill>
            <a:ln cap="flat" w="234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1264">
                  <a:solidFill>
                    <a:srgbClr val="FFFFFF"/>
                  </a:solidFill>
                  <a:latin typeface="標楷體"/>
                </a:rPr>
                <a:t>Water Resource</a:t>
              </a:r>
            </a:p>
          </p:txBody>
        </p:sp>
        <p:sp>
          <p:nvSpPr>
            <p:cNvPr name="SubTopic" id="113"/>
            <p:cNvSpPr/>
            <p:nvPr/>
          </p:nvSpPr>
          <p:spPr>
            <a:xfrm>
              <a:off y="2984197" x="5868754"/>
              <a:ext cx="2083099" cy="227760"/>
            </a:xfrm>
            <a:custGeom>
              <a:avLst/>
              <a:gdLst>
                <a:gd fmla="*/ 88390 w 2083099" name="rtl"/>
                <a:gd fmla="*/ 30420 h 227760" name="rtt"/>
                <a:gd fmla="*/ 1991590 w 2083099" name="rtr"/>
                <a:gd fmla="*/ 211380 h 227760" name="rtb"/>
              </a:gdLst>
              <a:ahLst/>
              <a:cxnLst/>
              <a:rect l="rtl" t="rtt" r="rtr" b="rtb"/>
              <a:pathLst>
                <a:path w="2083099" h="227760">
                  <a:moveTo>
                    <a:pt y="0" x="113880"/>
                  </a:moveTo>
                  <a:lnTo>
                    <a:pt y="0" x="1969219"/>
                  </a:lnTo>
                  <a:cubicBezTo>
                    <a:pt y="0" x="2032115"/>
                    <a:pt y="50984" x="2083099"/>
                    <a:pt y="113880" x="2083099"/>
                  </a:cubicBezTo>
                  <a:cubicBezTo>
                    <a:pt y="176776" x="2083099"/>
                    <a:pt y="227760" x="2032115"/>
                    <a:pt y="227760" x="196921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E8F3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Agriculture And Fisheries</a:t>
              </a:r>
            </a:p>
          </p:txBody>
        </p:sp>
        <p:sp>
          <p:nvSpPr>
            <p:cNvPr name="SubTopic" id="114"/>
            <p:cNvSpPr/>
            <p:nvPr/>
          </p:nvSpPr>
          <p:spPr>
            <a:xfrm>
              <a:off y="2566507" x="5868754"/>
              <a:ext cx="2008219" cy="227760"/>
            </a:xfrm>
            <a:custGeom>
              <a:avLst/>
              <a:gdLst>
                <a:gd fmla="*/ 88390 w 2008219" name="rtl"/>
                <a:gd fmla="*/ 30420 h 227760" name="rtt"/>
                <a:gd fmla="*/ 1916710 w 2008219" name="rtr"/>
                <a:gd fmla="*/ 211380 h 227760" name="rtb"/>
              </a:gdLst>
              <a:ahLst/>
              <a:cxnLst/>
              <a:rect l="rtl" t="rtt" r="rtr" b="rtb"/>
              <a:pathLst>
                <a:path w="2008219" h="227760">
                  <a:moveTo>
                    <a:pt y="0" x="113880"/>
                  </a:moveTo>
                  <a:lnTo>
                    <a:pt y="0" x="1894339"/>
                  </a:lnTo>
                  <a:cubicBezTo>
                    <a:pt y="0" x="1957235"/>
                    <a:pt y="50984" x="2008219"/>
                    <a:pt y="113880" x="2008219"/>
                  </a:cubicBezTo>
                  <a:cubicBezTo>
                    <a:pt y="176776" x="2008219"/>
                    <a:pt y="227760" x="1957235"/>
                    <a:pt y="227760" x="189433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E8F3EE"/>
            </a:solidFill>
            <a:ln cap="flat" w="7800">
              <a:solidFill>
                <a:srgbClr val="C00000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RU-UA MC-Food Insecurity</a:t>
              </a:r>
            </a:p>
          </p:txBody>
        </p:sp>
        <p:sp>
          <p:nvSpPr>
            <p:cNvPr name="SubTopic" id="115"/>
            <p:cNvSpPr/>
            <p:nvPr/>
          </p:nvSpPr>
          <p:spPr>
            <a:xfrm>
              <a:off y="2288047" x="5868754"/>
              <a:ext cx="1484059" cy="227760"/>
            </a:xfrm>
            <a:custGeom>
              <a:avLst/>
              <a:gdLst>
                <a:gd fmla="*/ 88390 w 1484059" name="rtl"/>
                <a:gd fmla="*/ 30420 h 227760" name="rtt"/>
                <a:gd fmla="*/ 1392550 w 1484059" name="rtr"/>
                <a:gd fmla="*/ 211380 h 227760" name="rtb"/>
              </a:gdLst>
              <a:ahLst/>
              <a:cxnLst/>
              <a:rect l="rtl" t="rtt" r="rtr" b="rtb"/>
              <a:pathLst>
                <a:path w="1484059" h="227760">
                  <a:moveTo>
                    <a:pt y="0" x="113880"/>
                  </a:moveTo>
                  <a:lnTo>
                    <a:pt y="0" x="1370179"/>
                  </a:lnTo>
                  <a:cubicBezTo>
                    <a:pt y="0" x="1433075"/>
                    <a:pt y="50984" x="1484059"/>
                    <a:pt y="113880" x="1484059"/>
                  </a:cubicBezTo>
                  <a:cubicBezTo>
                    <a:pt y="176776" x="1484059"/>
                    <a:pt y="227760" x="1433075"/>
                    <a:pt y="227760" x="137017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E8F3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Farmland Planning</a:t>
              </a:r>
            </a:p>
          </p:txBody>
        </p:sp>
        <p:sp>
          <p:nvSpPr>
            <p:cNvPr name="SubTopic" id="116"/>
            <p:cNvSpPr/>
            <p:nvPr/>
          </p:nvSpPr>
          <p:spPr>
            <a:xfrm>
              <a:off y="4521967" x="6080914"/>
              <a:ext cx="2157979" cy="227760"/>
            </a:xfrm>
            <a:custGeom>
              <a:avLst/>
              <a:gdLst>
                <a:gd fmla="*/ 88390 w 2157979" name="rtl"/>
                <a:gd fmla="*/ 30420 h 227760" name="rtt"/>
                <a:gd fmla="*/ 2066470 w 2157979" name="rtr"/>
                <a:gd fmla="*/ 211380 h 227760" name="rtb"/>
              </a:gdLst>
              <a:ahLst/>
              <a:cxnLst/>
              <a:rect l="rtl" t="rtt" r="rtr" b="rtb"/>
              <a:pathLst>
                <a:path w="2157979" h="227760">
                  <a:moveTo>
                    <a:pt y="0" x="113880"/>
                  </a:moveTo>
                  <a:lnTo>
                    <a:pt y="0" x="2044099"/>
                  </a:lnTo>
                  <a:cubicBezTo>
                    <a:pt y="0" x="2106995"/>
                    <a:pt y="50984" x="2157979"/>
                    <a:pt y="113880" x="2157979"/>
                  </a:cubicBezTo>
                  <a:cubicBezTo>
                    <a:pt y="176776" x="2157979"/>
                    <a:pt y="227760" x="2106995"/>
                    <a:pt y="227760" x="204409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C00000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RU-UA MC-Energy Insecurity</a:t>
              </a:r>
            </a:p>
          </p:txBody>
        </p:sp>
        <p:sp>
          <p:nvSpPr>
            <p:cNvPr name="SubTopic" id="117"/>
            <p:cNvSpPr/>
            <p:nvPr/>
          </p:nvSpPr>
          <p:spPr>
            <a:xfrm>
              <a:off y="4243507" x="6080914"/>
              <a:ext cx="1933339" cy="227760"/>
            </a:xfrm>
            <a:custGeom>
              <a:avLst/>
              <a:gdLst>
                <a:gd fmla="*/ 88390 w 1933339" name="rtl"/>
                <a:gd fmla="*/ 30420 h 227760" name="rtt"/>
                <a:gd fmla="*/ 1841830 w 1933339" name="rtr"/>
                <a:gd fmla="*/ 211380 h 227760" name="rtb"/>
              </a:gdLst>
              <a:ahLst/>
              <a:cxnLst/>
              <a:rect l="rtl" t="rtt" r="rtr" b="rtb"/>
              <a:pathLst>
                <a:path w="1933339" h="227760">
                  <a:moveTo>
                    <a:pt y="0" x="113880"/>
                  </a:moveTo>
                  <a:lnTo>
                    <a:pt y="0" x="1819459"/>
                  </a:lnTo>
                  <a:cubicBezTo>
                    <a:pt y="0" x="1882355"/>
                    <a:pt y="50984" x="1933339"/>
                    <a:pt y="113880" x="1933339"/>
                  </a:cubicBezTo>
                  <a:cubicBezTo>
                    <a:pt y="176776" x="1933339"/>
                    <a:pt y="227760" x="1882355"/>
                    <a:pt y="227760" x="18194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35B58F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Water-Energy-Food Nexus</a:t>
              </a:r>
            </a:p>
          </p:txBody>
        </p:sp>
        <p:sp>
          <p:nvSpPr>
            <p:cNvPr name="SubTopic" id="118"/>
            <p:cNvSpPr/>
            <p:nvPr/>
          </p:nvSpPr>
          <p:spPr>
            <a:xfrm>
              <a:off y="4800427" x="6080914"/>
              <a:ext cx="2682139" cy="227760"/>
            </a:xfrm>
            <a:custGeom>
              <a:avLst/>
              <a:gdLst>
                <a:gd fmla="*/ 88390 w 2682139" name="rtl"/>
                <a:gd fmla="*/ 30420 h 227760" name="rtt"/>
                <a:gd fmla="*/ 2590630 w 2682139" name="rtr"/>
                <a:gd fmla="*/ 211380 h 227760" name="rtb"/>
              </a:gdLst>
              <a:ahLst/>
              <a:cxnLst/>
              <a:rect l="rtl" t="rtt" r="rtr" b="rtb"/>
              <a:pathLst>
                <a:path w="2682139" h="227760">
                  <a:moveTo>
                    <a:pt y="0" x="113880"/>
                  </a:moveTo>
                  <a:lnTo>
                    <a:pt y="0" x="2568259"/>
                  </a:lnTo>
                  <a:cubicBezTo>
                    <a:pt y="0" x="2631155"/>
                    <a:pt y="50984" x="2682139"/>
                    <a:pt y="113880" x="2682139"/>
                  </a:cubicBezTo>
                  <a:cubicBezTo>
                    <a:pt y="176776" x="2682139"/>
                    <a:pt y="227760" x="2631155"/>
                    <a:pt y="227760" x="25682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Energy Consumption And Efficiency</a:t>
              </a:r>
            </a:p>
          </p:txBody>
        </p:sp>
        <p:sp>
          <p:nvSpPr>
            <p:cNvPr name="SubTopic" id="119"/>
            <p:cNvSpPr/>
            <p:nvPr/>
          </p:nvSpPr>
          <p:spPr>
            <a:xfrm>
              <a:off y="5078887" x="6080914"/>
              <a:ext cx="1034779" cy="227760"/>
            </a:xfrm>
            <a:custGeom>
              <a:avLst/>
              <a:gdLst>
                <a:gd fmla="*/ 88390 w 1034779" name="rtl"/>
                <a:gd fmla="*/ 30420 h 227760" name="rtt"/>
                <a:gd fmla="*/ 943270 w 1034779" name="rtr"/>
                <a:gd fmla="*/ 211380 h 227760" name="rtb"/>
              </a:gdLst>
              <a:ahLst/>
              <a:cxnLst/>
              <a:rect l="rtl" t="rtt" r="rtr" b="rtb"/>
              <a:pathLst>
                <a:path w="1034779" h="227760">
                  <a:moveTo>
                    <a:pt y="0" x="113880"/>
                  </a:moveTo>
                  <a:lnTo>
                    <a:pt y="0" x="920899"/>
                  </a:lnTo>
                  <a:cubicBezTo>
                    <a:pt y="0" x="983795"/>
                    <a:pt y="50984" x="1034779"/>
                    <a:pt y="113880" x="1034779"/>
                  </a:cubicBezTo>
                  <a:cubicBezTo>
                    <a:pt y="176776" x="1034779"/>
                    <a:pt y="227760" x="983795"/>
                    <a:pt y="227760" x="92089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Fossil Fuel</a:t>
              </a:r>
            </a:p>
          </p:txBody>
        </p:sp>
        <p:sp>
          <p:nvSpPr>
            <p:cNvPr name="MainTopic" id="120"/>
            <p:cNvSpPr/>
            <p:nvPr/>
          </p:nvSpPr>
          <p:spPr>
            <a:xfrm>
              <a:off y="4934392" x="3804967"/>
              <a:ext cx="2002166" cy="377520"/>
            </a:xfrm>
            <a:custGeom>
              <a:avLst/>
              <a:gdLst>
                <a:gd fmla="*/ 192223 w 2002166" name="rtl"/>
                <a:gd fmla="*/ 77220 h 377520" name="rtt"/>
                <a:gd fmla="*/ 1814623 w 2002166" name="rtr"/>
                <a:gd fmla="*/ 314340 h 377520" name="rtb"/>
              </a:gdLst>
              <a:ahLst/>
              <a:cxnLst/>
              <a:rect l="rtl" t="rtt" r="rtr" b="rtb"/>
              <a:pathLst>
                <a:path w="2002166" h="377520">
                  <a:moveTo>
                    <a:pt y="0" x="188760"/>
                  </a:moveTo>
                  <a:lnTo>
                    <a:pt y="0" x="1813406"/>
                  </a:lnTo>
                  <a:cubicBezTo>
                    <a:pt y="0" x="1917659"/>
                    <a:pt y="84508" x="2002166"/>
                    <a:pt y="188760" x="2002166"/>
                  </a:cubicBezTo>
                  <a:cubicBezTo>
                    <a:pt y="293012" x="2002166"/>
                    <a:pt y="377520" x="1917659"/>
                    <a:pt y="377520" x="1813406"/>
                  </a:cubicBezTo>
                  <a:lnTo>
                    <a:pt y="377520" x="188760"/>
                  </a:lnTo>
                  <a:cubicBezTo>
                    <a:pt y="377520" x="84508"/>
                    <a:pt y="293012" x="0"/>
                    <a:pt y="188760" x="0"/>
                  </a:cubicBezTo>
                  <a:cubicBezTo>
                    <a:pt y="84508" x="0"/>
                    <a:pt y="0" x="84508"/>
                    <a:pt y="0" x="188760"/>
                  </a:cubicBezTo>
                  <a:close/>
                </a:path>
              </a:pathLst>
            </a:custGeom>
            <a:solidFill>
              <a:srgbClr val="FF6991"/>
            </a:solidFill>
            <a:ln cap="flat" w="23400">
              <a:solidFill>
                <a:srgbClr val="FF6991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1264">
                  <a:solidFill>
                    <a:srgbClr val="FFFFFF"/>
                  </a:solidFill>
                  <a:latin typeface="標楷體"/>
                </a:rPr>
                <a:t>Energy Security</a:t>
              </a:r>
            </a:p>
          </p:txBody>
        </p:sp>
        <p:sp>
          <p:nvSpPr>
            <p:cNvPr name="SubTopic" id="121"/>
            <p:cNvSpPr/>
            <p:nvPr/>
          </p:nvSpPr>
          <p:spPr>
            <a:xfrm>
              <a:off y="3123427" x="822563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E8F3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2"/>
            <p:cNvSpPr/>
            <p:nvPr/>
          </p:nvSpPr>
          <p:spPr>
            <a:xfrm>
              <a:off y="2844967" x="822563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E8F3EE"/>
            </a:solidFill>
            <a:ln cap="flat" w="78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3"/>
            <p:cNvSpPr/>
            <p:nvPr/>
          </p:nvSpPr>
          <p:spPr>
            <a:xfrm>
              <a:off y="5078887" x="738947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4"/>
            <p:cNvSpPr/>
            <p:nvPr/>
          </p:nvSpPr>
          <p:spPr>
            <a:xfrm>
              <a:off y="5357347" x="746435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6"/>
            <p:cNvSpPr/>
            <p:nvPr/>
          </p:nvSpPr>
          <p:spPr>
            <a:xfrm>
              <a:off y="5635807" x="746435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7"/>
            <p:cNvSpPr/>
            <p:nvPr/>
          </p:nvSpPr>
          <p:spPr>
            <a:xfrm>
              <a:off y="5775037" x="6080914"/>
              <a:ext cx="1109659" cy="227760"/>
            </a:xfrm>
            <a:custGeom>
              <a:avLst/>
              <a:gdLst>
                <a:gd fmla="*/ 88390 w 1109659" name="rtl"/>
                <a:gd fmla="*/ 30420 h 227760" name="rtt"/>
                <a:gd fmla="*/ 1018150 w 1109659" name="rtr"/>
                <a:gd fmla="*/ 211380 h 227760" name="rtb"/>
              </a:gdLst>
              <a:ahLst/>
              <a:cxnLst/>
              <a:rect l="rtl" t="rtt" r="rtr" b="rtb"/>
              <a:pathLst>
                <a:path w="1109659" h="227760">
                  <a:moveTo>
                    <a:pt y="0" x="113880"/>
                  </a:moveTo>
                  <a:lnTo>
                    <a:pt y="0" x="995779"/>
                  </a:lnTo>
                  <a:cubicBezTo>
                    <a:pt y="0" x="1058675"/>
                    <a:pt y="50984" x="1109659"/>
                    <a:pt y="113880" x="1109659"/>
                  </a:cubicBezTo>
                  <a:cubicBezTo>
                    <a:pt y="176776" x="1109659"/>
                    <a:pt y="227760" x="1058675"/>
                    <a:pt y="227760" x="99577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Green Energy</a:t>
              </a:r>
            </a:p>
          </p:txBody>
        </p:sp>
        <p:sp>
          <p:nvSpPr>
            <p:cNvPr name="SubTopic" id="130"/>
            <p:cNvSpPr/>
            <p:nvPr/>
          </p:nvSpPr>
          <p:spPr>
            <a:xfrm>
              <a:off y="5914267" x="746435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35"/>
            <p:cNvSpPr/>
            <p:nvPr/>
          </p:nvSpPr>
          <p:spPr>
            <a:xfrm>
              <a:off y="6192727" x="7464353"/>
              <a:ext cx="435739" cy="227760"/>
            </a:xfrm>
            <a:custGeom>
              <a:avLst/>
              <a:gdLst>
                <a:gd fmla="*/ 88390 w 435739" name="rtl"/>
                <a:gd fmla="*/ 30420 h 227760" name="rtt"/>
                <a:gd fmla="*/ 344230 w 435739" name="rtr"/>
                <a:gd fmla="*/ 211380 h 227760" name="rtb"/>
              </a:gdLst>
              <a:ahLst/>
              <a:cxnLst/>
              <a:rect l="rtl" t="rtt" r="rtr" b="rtb"/>
              <a:pathLst>
                <a:path w="435739" h="227760">
                  <a:moveTo>
                    <a:pt y="0" x="113880"/>
                  </a:moveTo>
                  <a:lnTo>
                    <a:pt y="0" x="321859"/>
                  </a:lnTo>
                  <a:cubicBezTo>
                    <a:pt y="0" x="384755"/>
                    <a:pt y="50984" x="435739"/>
                    <a:pt y="113880" x="435739"/>
                  </a:cubicBezTo>
                  <a:cubicBezTo>
                    <a:pt y="176776" x="435739"/>
                    <a:pt y="227760" x="384755"/>
                    <a:pt y="227760" x="321859"/>
                  </a:cubicBezTo>
                  <a:lnTo>
                    <a:pt y="227760" x="113880"/>
                  </a:lnTo>
                  <a:cubicBezTo>
                    <a:pt y="227760" x="50984"/>
                    <a:pt y="176776" x="0"/>
                    <a:pt y="113880" x="0"/>
                  </a:cubicBezTo>
                  <a:cubicBezTo>
                    <a:pt y="50984" x="0"/>
                    <a:pt y="0" x="50984"/>
                    <a:pt y="0" x="113880"/>
                  </a:cubicBezTo>
                  <a:close/>
                </a:path>
              </a:pathLst>
            </a:custGeom>
            <a:solidFill>
              <a:srgbClr val="FFEBEE"/>
            </a:solidFill>
            <a:ln cap="flat" w="78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948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name="頁面-2" id="30000010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grpSp>
        <p:nvGrpSpPr>
          <p:cNvPr name="Group189" id="189"/>
          <p:cNvGrpSpPr/>
          <p:nvPr/>
        </p:nvGrpSpPr>
        <p:grpSpPr>
          <a:xfrm>
            <a:off y="2960696" x="320349"/>
            <a:ext cx="8494874" cy="935680"/>
            <a:chOff y="2960696" x="320349"/>
            <a:chExt cx="8494874" cy="935680"/>
          </a:xfrm>
        </p:grpSpPr>
        <p:sp>
          <p:nvSpPr>
            <p:cNvPr name="MainTopic" id="109"/>
            <p:cNvSpPr/>
            <p:nvPr/>
          </p:nvSpPr>
          <p:spPr>
            <a:xfrm>
              <a:off y="3622865" x="371949"/>
              <a:ext cx="8391674" cy="832480"/>
            </a:xfrm>
            <a:custGeom>
              <a:avLst/>
              <a:gdLst>
                <a:gd fmla="*/ 423877 w 8391674" name="rtl"/>
                <a:gd fmla="*/ 170280 h 832480" name="rtt"/>
                <a:gd fmla="*/ 7978117 w 8391674" name="rtr"/>
                <a:gd fmla="*/ 693160 h 832480" name="rtb"/>
              </a:gdLst>
              <a:ahLst/>
              <a:cxnLst/>
              <a:rect l="rtl" t="rtt" r="rtr" b="rtb"/>
              <a:pathLst>
                <a:path w="8391674" h="832480">
                  <a:moveTo>
                    <a:pt y="0" x="416240"/>
                  </a:moveTo>
                  <a:lnTo>
                    <a:pt y="0" x="7975434"/>
                  </a:lnTo>
                  <a:cubicBezTo>
                    <a:pt y="0" x="8205323"/>
                    <a:pt y="186351" x="8391674"/>
                    <a:pt y="416240" x="8391674"/>
                  </a:cubicBezTo>
                  <a:cubicBezTo>
                    <a:pt y="646129" x="8391674"/>
                    <a:pt y="832480" x="8205323"/>
                    <a:pt y="832480" x="7975434"/>
                  </a:cubicBezTo>
                  <a:lnTo>
                    <a:pt y="832480" x="416240"/>
                  </a:lnTo>
                  <a:cubicBezTo>
                    <a:pt y="832480" x="186351"/>
                    <a:pt y="646129" x="0"/>
                    <a:pt y="416240" x="0"/>
                  </a:cubicBezTo>
                  <a:cubicBezTo>
                    <a:pt y="186351" x="0"/>
                    <a:pt y="0" x="186351"/>
                    <a:pt y="0" x="416240"/>
                  </a:cubicBezTo>
                  <a:close/>
                </a:path>
              </a:pathLst>
            </a:custGeom>
            <a:solidFill>
              <a:srgbClr val="A8DF41"/>
            </a:solidFill>
            <a:ln cap="flat" w="51600">
              <a:solidFill>
                <a:srgbClr val="A8DF41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2768">
                  <a:solidFill>
                    <a:srgbClr val="FFFFFF"/>
                  </a:solidFill>
                  <a:latin typeface="標楷體"/>
                </a:rPr>
                <a:t>Rare-Earth Ore Supply And Demand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name="頁面-2" id="30000010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grpSp>
        <p:nvGrpSpPr>
          <p:cNvPr name="Group190" id="190"/>
          <p:cNvGrpSpPr/>
          <p:nvPr/>
        </p:nvGrpSpPr>
        <p:grpSpPr>
          <a:xfrm>
            <a:off y="2496066" x="345017"/>
            <a:ext cx="8459316" cy="1867050"/>
            <a:chOff y="2496066" x="345017"/>
            <a:chExt cx="8459316" cy="1867050"/>
          </a:xfrm>
        </p:grpSpPr>
        <p:sp>
          <p:nvSpPr>
            <p:cNvPr name="MMConnector" id="164"/>
            <p:cNvSpPr/>
            <p:nvPr/>
          </p:nvSpPr>
          <p:spPr>
            <a:xfrm>
              <a:off y="3615898" x="3720530"/>
              <a:ext cx="473850" cy="602438"/>
            </a:xfrm>
            <a:custGeom>
              <a:avLst/>
              <a:gdLst/>
              <a:pathLst>
                <a:path w="473850" fill="none" h="602438">
                  <a:moveTo>
                    <a:pt y="301219" x="-236925"/>
                  </a:moveTo>
                  <a:lnTo>
                    <a:pt y="301219" x="-88425"/>
                  </a:lnTo>
                  <a:cubicBezTo>
                    <a:pt y="60244" x="-88425"/>
                    <a:pt y="-301219" x="41715"/>
                    <a:pt y="-301219" x="236925"/>
                  </a:cubicBezTo>
                </a:path>
              </a:pathLst>
            </a:custGeom>
            <a:noFill/>
            <a:ln cap="rnd" w="13500">
              <a:solidFill>
                <a:srgbClr val="7C49FA"/>
              </a:solidFill>
              <a:round/>
            </a:ln>
          </p:spPr>
        </p:sp>
        <p:sp>
          <p:nvSpPr>
            <p:cNvPr name="MMConnector" id="165"/>
            <p:cNvSpPr/>
            <p:nvPr/>
          </p:nvSpPr>
          <p:spPr>
            <a:xfrm>
              <a:off y="3856873" x="3720530"/>
              <a:ext cx="325350" cy="120487"/>
            </a:xfrm>
            <a:custGeom>
              <a:avLst/>
              <a:gdLst/>
              <a:pathLst>
                <a:path w="325350" fill="none" h="120487">
                  <a:moveTo>
                    <a:pt y="60244" x="-88425"/>
                  </a:moveTo>
                  <a:cubicBezTo>
                    <a:pt y="12049" x="-88425"/>
                    <a:pt y="-60244" x="41715"/>
                    <a:pt y="-60244" x="236925"/>
                  </a:cubicBezTo>
                </a:path>
              </a:pathLst>
            </a:custGeom>
            <a:noFill/>
            <a:ln cap="rnd" w="13500">
              <a:solidFill>
                <a:srgbClr val="C00000"/>
              </a:solidFill>
              <a:round/>
            </a:ln>
          </p:spPr>
        </p:sp>
        <p:sp>
          <p:nvSpPr>
            <p:cNvPr name="MMConnector" id="166"/>
            <p:cNvSpPr/>
            <p:nvPr/>
          </p:nvSpPr>
          <p:spPr>
            <a:xfrm>
              <a:off y="4218335" x="3720530"/>
              <a:ext cx="325350" cy="602438"/>
            </a:xfrm>
            <a:custGeom>
              <a:avLst/>
              <a:gdLst/>
              <a:pathLst>
                <a:path w="325350" fill="none" h="602438">
                  <a:moveTo>
                    <a:pt y="-301219" x="-88425"/>
                  </a:moveTo>
                  <a:cubicBezTo>
                    <a:pt y="-60244" x="-88425"/>
                    <a:pt y="301219" x="41715"/>
                    <a:pt y="301219" x="236925"/>
                  </a:cubicBezTo>
                </a:path>
              </a:pathLst>
            </a:custGeom>
            <a:noFill/>
            <a:ln cap="rnd" w="13500">
              <a:solidFill>
                <a:srgbClr val="7C49FA"/>
              </a:solidFill>
              <a:round/>
            </a:ln>
          </p:spPr>
        </p:sp>
        <p:sp>
          <p:nvSpPr>
            <p:cNvPr name="MMConnector" id="167"/>
            <p:cNvSpPr/>
            <p:nvPr/>
          </p:nvSpPr>
          <p:spPr>
            <a:xfrm>
              <a:off y="4399066" x="7799744"/>
              <a:ext cx="473850" cy="240975"/>
            </a:xfrm>
            <a:custGeom>
              <a:avLst/>
              <a:gdLst/>
              <a:pathLst>
                <a:path w="473850" fill="none" h="240975">
                  <a:moveTo>
                    <a:pt y="120488" x="-236925"/>
                  </a:moveTo>
                  <a:lnTo>
                    <a:pt y="120488" x="-88425"/>
                  </a:lnTo>
                  <a:cubicBezTo>
                    <a:pt y="24098" x="-88425"/>
                    <a:pt y="-120488" x="41715"/>
                    <a:pt y="-120488" x="236925"/>
                  </a:cubicBezTo>
                </a:path>
              </a:pathLst>
            </a:custGeom>
            <a:noFill/>
            <a:ln cap="rnd" w="13500">
              <a:solidFill>
                <a:srgbClr val="F0C43D"/>
              </a:solidFill>
              <a:round/>
            </a:ln>
          </p:spPr>
        </p:sp>
        <p:sp>
          <p:nvSpPr>
            <p:cNvPr name="MMConnector" id="168"/>
            <p:cNvSpPr/>
            <p:nvPr/>
          </p:nvSpPr>
          <p:spPr>
            <a:xfrm>
              <a:off y="4640041" x="7799744"/>
              <a:ext cx="325350" cy="240975"/>
            </a:xfrm>
            <a:custGeom>
              <a:avLst/>
              <a:gdLst/>
              <a:pathLst>
                <a:path w="325350" fill="none" h="240975">
                  <a:moveTo>
                    <a:pt y="-120488" x="-88425"/>
                  </a:moveTo>
                  <a:cubicBezTo>
                    <a:pt y="-24098" x="-88425"/>
                    <a:pt y="120488" x="41715"/>
                    <a:pt y="120488" x="236925"/>
                  </a:cubicBezTo>
                </a:path>
              </a:pathLst>
            </a:custGeom>
            <a:noFill/>
            <a:ln cap="rnd" w="13500">
              <a:solidFill>
                <a:srgbClr val="7C49FA"/>
              </a:solidFill>
              <a:round/>
            </a:ln>
          </p:spPr>
        </p:sp>
        <p:sp>
          <p:nvSpPr>
            <p:cNvPr name="MainTopic" id="110"/>
            <p:cNvSpPr/>
            <p:nvPr/>
          </p:nvSpPr>
          <p:spPr>
            <a:xfrm>
              <a:off y="3590416" x="385517"/>
              <a:ext cx="3098088" cy="653400"/>
            </a:xfrm>
            <a:custGeom>
              <a:avLst/>
              <a:gdLst>
                <a:gd fmla="*/ 332694 w 3098088" name="rtl"/>
                <a:gd fmla="*/ 133650 h 653400" name="rtt"/>
                <a:gd fmla="*/ 2773494 w 3098088" name="rtr"/>
                <a:gd fmla="*/ 544050 h 653400" name="rtb"/>
              </a:gdLst>
              <a:ahLst/>
              <a:cxnLst/>
              <a:rect l="rtl" t="rtt" r="rtr" b="rtb"/>
              <a:pathLst>
                <a:path w="3098088" h="653400">
                  <a:moveTo>
                    <a:pt y="0" x="326700"/>
                  </a:moveTo>
                  <a:lnTo>
                    <a:pt y="0" x="2771388"/>
                  </a:lnTo>
                  <a:cubicBezTo>
                    <a:pt y="0" x="2951824"/>
                    <a:pt y="146264" x="3098088"/>
                    <a:pt y="326700" x="3098088"/>
                  </a:cubicBezTo>
                  <a:cubicBezTo>
                    <a:pt y="507136" x="3098088"/>
                    <a:pt y="653400" x="2951824"/>
                    <a:pt y="653400" x="2771388"/>
                  </a:cubicBezTo>
                  <a:lnTo>
                    <a:pt y="653400" x="326700"/>
                  </a:lnTo>
                  <a:cubicBezTo>
                    <a:pt y="653400" x="146264"/>
                    <a:pt y="507136" x="0"/>
                    <a:pt y="326700" x="0"/>
                  </a:cubicBezTo>
                  <a:cubicBezTo>
                    <a:pt y="146264" x="0"/>
                    <a:pt y="0" x="146264"/>
                    <a:pt y="0" x="326700"/>
                  </a:cubicBezTo>
                  <a:close/>
                </a:path>
              </a:pathLst>
            </a:custGeom>
            <a:solidFill>
              <a:srgbClr val="35B58F"/>
            </a:solidFill>
            <a:ln cap="flat" w="40500">
              <a:solidFill>
                <a:srgbClr val="35B58F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2160">
                  <a:solidFill>
                    <a:srgbClr val="FFFFFF"/>
                  </a:solidFill>
                  <a:latin typeface="標楷體"/>
                </a:rPr>
                <a:t>Food Security</a:t>
              </a:r>
            </a:p>
          </p:txBody>
        </p:sp>
        <p:sp>
          <p:nvSpPr>
            <p:cNvPr name="SubTopic" id="113"/>
            <p:cNvSpPr/>
            <p:nvPr/>
          </p:nvSpPr>
          <p:spPr>
            <a:xfrm>
              <a:off y="4322454" x="3957455"/>
              <a:ext cx="3605364" cy="394200"/>
            </a:xfrm>
            <a:custGeom>
              <a:avLst/>
              <a:gdLst>
                <a:gd fmla="*/ 152982 w 3605364" name="rtl"/>
                <a:gd fmla="*/ 52650 h 394200" name="rtt"/>
                <a:gd fmla="*/ 3446982 w 3605364" name="rtr"/>
                <a:gd fmla="*/ 365850 h 394200" name="rtb"/>
              </a:gdLst>
              <a:ahLst/>
              <a:cxnLst/>
              <a:rect l="rtl" t="rtt" r="rtr" b="rtb"/>
              <a:pathLst>
                <a:path w="3605364" h="394200">
                  <a:moveTo>
                    <a:pt y="0" x="197100"/>
                  </a:moveTo>
                  <a:lnTo>
                    <a:pt y="0" x="3408264"/>
                  </a:lnTo>
                  <a:cubicBezTo>
                    <a:pt y="0" x="3517122"/>
                    <a:pt y="88242" x="3605364"/>
                    <a:pt y="197100" x="3605364"/>
                  </a:cubicBezTo>
                  <a:cubicBezTo>
                    <a:pt y="305958" x="3605364"/>
                    <a:pt y="394200" x="3517122"/>
                    <a:pt y="394200" x="3408264"/>
                  </a:cubicBezTo>
                  <a:lnTo>
                    <a:pt y="394200" x="197100"/>
                  </a:lnTo>
                  <a:cubicBezTo>
                    <a:pt y="394200" x="88242"/>
                    <a:pt y="305958" x="0"/>
                    <a:pt y="197100" x="0"/>
                  </a:cubicBezTo>
                  <a:cubicBezTo>
                    <a:pt y="88242" x="0"/>
                    <a:pt y="0" x="88242"/>
                    <a:pt y="0" x="197100"/>
                  </a:cubicBezTo>
                  <a:close/>
                </a:path>
              </a:pathLst>
            </a:custGeom>
            <a:solidFill>
              <a:srgbClr val="E8F3EE"/>
            </a:solidFill>
            <a:ln cap="flat" w="135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620">
                  <a:solidFill>
                    <a:srgbClr val="454545"/>
                  </a:solidFill>
                  <a:latin typeface="標楷體"/>
                </a:rPr>
                <a:t>Agriculture And Fisheries</a:t>
              </a:r>
            </a:p>
          </p:txBody>
        </p:sp>
        <p:sp>
          <p:nvSpPr>
            <p:cNvPr name="SubTopic" id="114"/>
            <p:cNvSpPr/>
            <p:nvPr/>
          </p:nvSpPr>
          <p:spPr>
            <a:xfrm>
              <a:off y="3599529" x="3957455"/>
              <a:ext cx="3475764" cy="394200"/>
            </a:xfrm>
            <a:custGeom>
              <a:avLst/>
              <a:gdLst>
                <a:gd fmla="*/ 152982 w 3475764" name="rtl"/>
                <a:gd fmla="*/ 52650 h 394200" name="rtt"/>
                <a:gd fmla="*/ 3317382 w 3475764" name="rtr"/>
                <a:gd fmla="*/ 365850 h 394200" name="rtb"/>
              </a:gdLst>
              <a:ahLst/>
              <a:cxnLst/>
              <a:rect l="rtl" t="rtt" r="rtr" b="rtb"/>
              <a:pathLst>
                <a:path w="3475764" h="394200">
                  <a:moveTo>
                    <a:pt y="0" x="197100"/>
                  </a:moveTo>
                  <a:lnTo>
                    <a:pt y="0" x="3278664"/>
                  </a:lnTo>
                  <a:cubicBezTo>
                    <a:pt y="0" x="3387522"/>
                    <a:pt y="88242" x="3475764"/>
                    <a:pt y="197100" x="3475764"/>
                  </a:cubicBezTo>
                  <a:cubicBezTo>
                    <a:pt y="305958" x="3475764"/>
                    <a:pt y="394200" x="3387522"/>
                    <a:pt y="394200" x="3278664"/>
                  </a:cubicBezTo>
                  <a:lnTo>
                    <a:pt y="394200" x="197100"/>
                  </a:lnTo>
                  <a:cubicBezTo>
                    <a:pt y="394200" x="88242"/>
                    <a:pt y="305958" x="0"/>
                    <a:pt y="197100" x="0"/>
                  </a:cubicBezTo>
                  <a:cubicBezTo>
                    <a:pt y="88242" x="0"/>
                    <a:pt y="0" x="88242"/>
                    <a:pt y="0" x="197100"/>
                  </a:cubicBezTo>
                  <a:close/>
                </a:path>
              </a:pathLst>
            </a:custGeom>
            <a:solidFill>
              <a:srgbClr val="E8F3EE"/>
            </a:solidFill>
            <a:ln cap="flat" w="13500">
              <a:solidFill>
                <a:srgbClr val="C00000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620">
                  <a:solidFill>
                    <a:srgbClr val="454545"/>
                  </a:solidFill>
                  <a:latin typeface="標楷體"/>
                </a:rPr>
                <a:t>RU-UA MC-Food Insecurity</a:t>
              </a:r>
            </a:p>
          </p:txBody>
        </p:sp>
        <p:sp>
          <p:nvSpPr>
            <p:cNvPr name="SubTopic" id="115"/>
            <p:cNvSpPr/>
            <p:nvPr/>
          </p:nvSpPr>
          <p:spPr>
            <a:xfrm>
              <a:off y="3117579" x="3957455"/>
              <a:ext cx="2568564" cy="394200"/>
            </a:xfrm>
            <a:custGeom>
              <a:avLst/>
              <a:gdLst>
                <a:gd fmla="*/ 152982 w 2568564" name="rtl"/>
                <a:gd fmla="*/ 52650 h 394200" name="rtt"/>
                <a:gd fmla="*/ 2410182 w 2568564" name="rtr"/>
                <a:gd fmla="*/ 365850 h 394200" name="rtb"/>
              </a:gdLst>
              <a:ahLst/>
              <a:cxnLst/>
              <a:rect l="rtl" t="rtt" r="rtr" b="rtb"/>
              <a:pathLst>
                <a:path w="2568564" h="394200">
                  <a:moveTo>
                    <a:pt y="0" x="197100"/>
                  </a:moveTo>
                  <a:lnTo>
                    <a:pt y="0" x="2371464"/>
                  </a:lnTo>
                  <a:cubicBezTo>
                    <a:pt y="0" x="2480322"/>
                    <a:pt y="88242" x="2568564"/>
                    <a:pt y="197100" x="2568564"/>
                  </a:cubicBezTo>
                  <a:cubicBezTo>
                    <a:pt y="305958" x="2568564"/>
                    <a:pt y="394200" x="2480322"/>
                    <a:pt y="394200" x="2371464"/>
                  </a:cubicBezTo>
                  <a:lnTo>
                    <a:pt y="394200" x="197100"/>
                  </a:lnTo>
                  <a:cubicBezTo>
                    <a:pt y="394200" x="88242"/>
                    <a:pt y="305958" x="0"/>
                    <a:pt y="197100" x="0"/>
                  </a:cubicBezTo>
                  <a:cubicBezTo>
                    <a:pt y="88242" x="0"/>
                    <a:pt y="0" x="88242"/>
                    <a:pt y="0" x="197100"/>
                  </a:cubicBezTo>
                  <a:close/>
                </a:path>
              </a:pathLst>
            </a:custGeom>
            <a:solidFill>
              <a:srgbClr val="E8F3EE"/>
            </a:solidFill>
            <a:ln cap="flat" w="135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620">
                  <a:solidFill>
                    <a:srgbClr val="454545"/>
                  </a:solidFill>
                  <a:latin typeface="標楷體"/>
                </a:rPr>
                <a:t>Farmland Planning</a:t>
              </a:r>
            </a:p>
          </p:txBody>
        </p:sp>
        <p:sp>
          <p:nvSpPr>
            <p:cNvPr name="SubTopic" id="121"/>
            <p:cNvSpPr/>
            <p:nvPr/>
          </p:nvSpPr>
          <p:spPr>
            <a:xfrm>
              <a:off y="4563429" x="8036669"/>
              <a:ext cx="754164" cy="394200"/>
            </a:xfrm>
            <a:custGeom>
              <a:avLst/>
              <a:gdLst>
                <a:gd fmla="*/ 152982 w 754164" name="rtl"/>
                <a:gd fmla="*/ 52650 h 394200" name="rtt"/>
                <a:gd fmla="*/ 595782 w 754164" name="rtr"/>
                <a:gd fmla="*/ 365850 h 394200" name="rtb"/>
              </a:gdLst>
              <a:ahLst/>
              <a:cxnLst/>
              <a:rect l="rtl" t="rtt" r="rtr" b="rtb"/>
              <a:pathLst>
                <a:path w="754164" h="394200">
                  <a:moveTo>
                    <a:pt y="0" x="197100"/>
                  </a:moveTo>
                  <a:lnTo>
                    <a:pt y="0" x="557064"/>
                  </a:lnTo>
                  <a:cubicBezTo>
                    <a:pt y="0" x="665922"/>
                    <a:pt y="88242" x="754164"/>
                    <a:pt y="197100" x="754164"/>
                  </a:cubicBezTo>
                  <a:cubicBezTo>
                    <a:pt y="305958" x="754164"/>
                    <a:pt y="394200" x="665922"/>
                    <a:pt y="394200" x="557064"/>
                  </a:cubicBezTo>
                  <a:lnTo>
                    <a:pt y="394200" x="197100"/>
                  </a:lnTo>
                  <a:cubicBezTo>
                    <a:pt y="394200" x="88242"/>
                    <a:pt y="305958" x="0"/>
                    <a:pt y="197100" x="0"/>
                  </a:cubicBezTo>
                  <a:cubicBezTo>
                    <a:pt y="88242" x="0"/>
                    <a:pt y="0" x="88242"/>
                    <a:pt y="0" x="197100"/>
                  </a:cubicBezTo>
                  <a:close/>
                </a:path>
              </a:pathLst>
            </a:custGeom>
            <a:solidFill>
              <a:srgbClr val="E8F3EE"/>
            </a:solidFill>
            <a:ln cap="flat" w="135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620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2"/>
            <p:cNvSpPr/>
            <p:nvPr/>
          </p:nvSpPr>
          <p:spPr>
            <a:xfrm>
              <a:off y="4081479" x="8036669"/>
              <a:ext cx="754164" cy="394200"/>
            </a:xfrm>
            <a:custGeom>
              <a:avLst/>
              <a:gdLst>
                <a:gd fmla="*/ 152982 w 754164" name="rtl"/>
                <a:gd fmla="*/ 52650 h 394200" name="rtt"/>
                <a:gd fmla="*/ 595782 w 754164" name="rtr"/>
                <a:gd fmla="*/ 365850 h 394200" name="rtb"/>
              </a:gdLst>
              <a:ahLst/>
              <a:cxnLst/>
              <a:rect l="rtl" t="rtt" r="rtr" b="rtb"/>
              <a:pathLst>
                <a:path w="754164" h="394200">
                  <a:moveTo>
                    <a:pt y="0" x="197100"/>
                  </a:moveTo>
                  <a:lnTo>
                    <a:pt y="0" x="557064"/>
                  </a:lnTo>
                  <a:cubicBezTo>
                    <a:pt y="0" x="665922"/>
                    <a:pt y="88242" x="754164"/>
                    <a:pt y="197100" x="754164"/>
                  </a:cubicBezTo>
                  <a:cubicBezTo>
                    <a:pt y="305958" x="754164"/>
                    <a:pt y="394200" x="665922"/>
                    <a:pt y="394200" x="557064"/>
                  </a:cubicBezTo>
                  <a:lnTo>
                    <a:pt y="394200" x="197100"/>
                  </a:lnTo>
                  <a:cubicBezTo>
                    <a:pt y="394200" x="88242"/>
                    <a:pt y="305958" x="0"/>
                    <a:pt y="197100" x="0"/>
                  </a:cubicBezTo>
                  <a:cubicBezTo>
                    <a:pt y="88242" x="0"/>
                    <a:pt y="0" x="88242"/>
                    <a:pt y="0" x="197100"/>
                  </a:cubicBezTo>
                  <a:close/>
                </a:path>
              </a:pathLst>
            </a:custGeom>
            <a:solidFill>
              <a:srgbClr val="E8F3EE"/>
            </a:solidFill>
            <a:ln cap="flat" w="135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620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name="頁面-2" id="30000010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grpSp>
        <p:nvGrpSpPr>
          <p:cNvPr name="Group191" id="191"/>
          <p:cNvGrpSpPr/>
          <p:nvPr/>
        </p:nvGrpSpPr>
        <p:grpSpPr>
          <a:xfrm>
            <a:off y="2857800" x="1956576"/>
            <a:ext cx="5230848" cy="1142400"/>
            <a:chOff y="2857800" x="1956576"/>
            <a:chExt cx="5230848" cy="1142400"/>
          </a:xfrm>
        </p:grpSpPr>
        <p:sp>
          <p:nvSpPr>
            <p:cNvPr name="MainTopic" id="112"/>
            <p:cNvSpPr/>
            <p:nvPr/>
          </p:nvSpPr>
          <p:spPr>
            <a:xfrm>
              <a:off y="3296767" x="2019576"/>
              <a:ext cx="5104848" cy="1016400"/>
            </a:xfrm>
            <a:custGeom>
              <a:avLst/>
              <a:gdLst>
                <a:gd fmla="*/ 517524 w 5104848" name="rtl"/>
                <a:gd fmla="*/ 207900 h 1016400" name="rtt"/>
                <a:gd fmla="*/ 4599924 w 5104848" name="rtr"/>
                <a:gd fmla="*/ 846300 h 1016400" name="rtb"/>
              </a:gdLst>
              <a:ahLst/>
              <a:cxnLst/>
              <a:rect l="rtl" t="rtt" r="rtr" b="rtb"/>
              <a:pathLst>
                <a:path w="5104848" h="1016400">
                  <a:moveTo>
                    <a:pt y="0" x="508200"/>
                  </a:moveTo>
                  <a:lnTo>
                    <a:pt y="0" x="4596648"/>
                  </a:lnTo>
                  <a:cubicBezTo>
                    <a:pt y="0" x="4877327"/>
                    <a:pt y="227521" x="5104848"/>
                    <a:pt y="508200" x="5104848"/>
                  </a:cubicBezTo>
                  <a:cubicBezTo>
                    <a:pt y="788879" x="5104848"/>
                    <a:pt y="1016400" x="4877327"/>
                    <a:pt y="1016400" x="4596648"/>
                  </a:cubicBezTo>
                  <a:lnTo>
                    <a:pt y="1016400" x="508200"/>
                  </a:lnTo>
                  <a:cubicBezTo>
                    <a:pt y="1016400" x="227521"/>
                    <a:pt y="788879" x="0"/>
                    <a:pt y="508200" x="0"/>
                  </a:cubicBezTo>
                  <a:cubicBezTo>
                    <a:pt y="227521" x="0"/>
                    <a:pt y="0" x="227521"/>
                    <a:pt y="0" x="508200"/>
                  </a:cubicBezTo>
                  <a:close/>
                </a:path>
              </a:pathLst>
            </a:custGeom>
            <a:solidFill>
              <a:srgbClr val="F0C43D"/>
            </a:solidFill>
            <a:ln cap="flat" w="630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3360">
                  <a:solidFill>
                    <a:srgbClr val="FFFFFF"/>
                  </a:solidFill>
                  <a:latin typeface="標楷體"/>
                </a:rPr>
                <a:t>Water Resource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name="頁面-2" id="300000101"/>
        <p:cNvGrpSpPr/>
        <p:nvPr/>
      </p:nvGrpSpPr>
      <p:grpSpPr>
        <a:xfrm>
          <a:off y="0" x="0"/>
          <a:ext cx="0" cy="0"/>
          <a:chOff y="0" x="0"/>
          <a:chExt cx="0" cy="0"/>
        </a:xfrm>
      </p:grpSpPr>
      <p:grpSp>
        <p:nvGrpSpPr>
          <p:cNvPr name="Group192" id="192"/>
          <p:cNvGrpSpPr/>
          <p:nvPr/>
        </p:nvGrpSpPr>
        <p:grpSpPr>
          <a:xfrm>
            <a:off y="1571663" x="345571"/>
            <a:ext cx="8443406" cy="3710520"/>
            <a:chOff y="1571663" x="345571"/>
            <a:chExt cx="8443406" cy="3710520"/>
          </a:xfrm>
        </p:grpSpPr>
        <p:sp>
          <p:nvSpPr>
            <p:cNvPr name="MMConnector" id="148"/>
            <p:cNvSpPr/>
            <p:nvPr/>
          </p:nvSpPr>
          <p:spPr>
            <a:xfrm>
              <a:off y="3032408" x="4005112"/>
              <a:ext cx="463320" cy="1295910"/>
            </a:xfrm>
            <a:custGeom>
              <a:avLst/>
              <a:gdLst/>
              <a:pathLst>
                <a:path w="463320" fill="none" h="1295910">
                  <a:moveTo>
                    <a:pt y="647955" x="-231660"/>
                  </a:moveTo>
                  <a:lnTo>
                    <a:pt y="647955" x="-86460"/>
                  </a:lnTo>
                  <a:cubicBezTo>
                    <a:pt y="129591" x="-86460"/>
                    <a:pt y="-647955" x="40788"/>
                    <a:pt y="-647955" x="231660"/>
                  </a:cubicBezTo>
                </a:path>
              </a:pathLst>
            </a:custGeom>
            <a:noFill/>
            <a:ln cap="rnd" w="13200">
              <a:solidFill>
                <a:srgbClr val="35B58F"/>
              </a:solidFill>
              <a:round/>
            </a:ln>
          </p:spPr>
        </p:sp>
        <p:sp>
          <p:nvSpPr>
            <p:cNvPr name="MMConnector" id="149"/>
            <p:cNvSpPr/>
            <p:nvPr/>
          </p:nvSpPr>
          <p:spPr>
            <a:xfrm>
              <a:off y="3268028" x="4005112"/>
              <a:ext cx="318120" cy="824670"/>
            </a:xfrm>
            <a:custGeom>
              <a:avLst/>
              <a:gdLst/>
              <a:pathLst>
                <a:path w="318120" fill="none" h="824670">
                  <a:moveTo>
                    <a:pt y="412335" x="-86460"/>
                  </a:moveTo>
                  <a:cubicBezTo>
                    <a:pt y="82467" x="-86460"/>
                    <a:pt y="-412335" x="40788"/>
                    <a:pt y="-412335" x="231660"/>
                  </a:cubicBezTo>
                </a:path>
              </a:pathLst>
            </a:custGeom>
            <a:noFill/>
            <a:ln cap="rnd" w="13200">
              <a:solidFill>
                <a:srgbClr val="C00000"/>
              </a:solidFill>
              <a:round/>
            </a:ln>
          </p:spPr>
        </p:sp>
        <p:sp>
          <p:nvSpPr>
            <p:cNvPr name="MMConnector" id="150"/>
            <p:cNvSpPr/>
            <p:nvPr/>
          </p:nvSpPr>
          <p:spPr>
            <a:xfrm>
              <a:off y="3503648" x="4005112"/>
              <a:ext cx="318120" cy="353430"/>
            </a:xfrm>
            <a:custGeom>
              <a:avLst/>
              <a:gdLst/>
              <a:pathLst>
                <a:path w="318120" fill="none" h="353430">
                  <a:moveTo>
                    <a:pt y="176715" x="-86460"/>
                  </a:moveTo>
                  <a:cubicBezTo>
                    <a:pt y="35343" x="-86460"/>
                    <a:pt y="-176715" x="40788"/>
                    <a:pt y="-176715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MMConnector" id="151"/>
            <p:cNvSpPr/>
            <p:nvPr/>
          </p:nvSpPr>
          <p:spPr>
            <a:xfrm>
              <a:off y="3739268" x="4005112"/>
              <a:ext cx="318120" cy="117810"/>
            </a:xfrm>
            <a:custGeom>
              <a:avLst/>
              <a:gdLst/>
              <a:pathLst>
                <a:path w="318120" fill="none" h="117810">
                  <a:moveTo>
                    <a:pt y="-58905" x="-86460"/>
                  </a:moveTo>
                  <a:cubicBezTo>
                    <a:pt y="-11781" x="-86460"/>
                    <a:pt y="58905" x="40788"/>
                    <a:pt y="58905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MMConnector" id="152"/>
            <p:cNvSpPr/>
            <p:nvPr/>
          </p:nvSpPr>
          <p:spPr>
            <a:xfrm>
              <a:off y="4328318" x="4005112"/>
              <a:ext cx="318120" cy="1295910"/>
            </a:xfrm>
            <a:custGeom>
              <a:avLst/>
              <a:gdLst/>
              <a:pathLst>
                <a:path w="318120" fill="none" h="1295910">
                  <a:moveTo>
                    <a:pt y="-647955" x="-86460"/>
                  </a:moveTo>
                  <a:cubicBezTo>
                    <a:pt y="-129591" x="-86460"/>
                    <a:pt y="647955" x="40788"/>
                    <a:pt y="647955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MMConnector" id="153"/>
            <p:cNvSpPr/>
            <p:nvPr/>
          </p:nvSpPr>
          <p:spPr>
            <a:xfrm>
              <a:off y="4858463" x="6346317"/>
              <a:ext cx="318120" cy="235620"/>
            </a:xfrm>
            <a:custGeom>
              <a:avLst/>
              <a:gdLst/>
              <a:pathLst>
                <a:path w="318120" fill="none" h="235620">
                  <a:moveTo>
                    <a:pt y="117810" x="-86460"/>
                  </a:moveTo>
                  <a:cubicBezTo>
                    <a:pt y="23562" x="-86460"/>
                    <a:pt y="-117810" x="40788"/>
                    <a:pt y="-117810" x="231660"/>
                  </a:cubicBezTo>
                </a:path>
              </a:pathLst>
            </a:custGeom>
            <a:noFill/>
            <a:ln cap="rnd" w="13200">
              <a:solidFill>
                <a:srgbClr val="F0C43D"/>
              </a:solidFill>
              <a:round/>
            </a:ln>
          </p:spPr>
        </p:sp>
        <p:sp>
          <p:nvSpPr>
            <p:cNvPr name="MMConnector" id="154"/>
            <p:cNvSpPr/>
            <p:nvPr/>
          </p:nvSpPr>
          <p:spPr>
            <a:xfrm>
              <a:off y="5329703" x="6346317"/>
              <a:ext cx="318120" cy="706860"/>
            </a:xfrm>
            <a:custGeom>
              <a:avLst/>
              <a:gdLst/>
              <a:pathLst>
                <a:path w="318120" fill="none" h="706860">
                  <a:moveTo>
                    <a:pt y="-353430" x="-86460"/>
                  </a:moveTo>
                  <a:cubicBezTo>
                    <a:pt y="-70686" x="-86460"/>
                    <a:pt y="353430" x="40788"/>
                    <a:pt y="353430" x="231660"/>
                  </a:cubicBezTo>
                </a:path>
              </a:pathLst>
            </a:custGeom>
            <a:noFill/>
            <a:ln cap="rnd" w="13200">
              <a:solidFill>
                <a:srgbClr val="F0C43D"/>
              </a:solidFill>
              <a:round/>
            </a:ln>
          </p:spPr>
        </p:sp>
        <p:sp>
          <p:nvSpPr>
            <p:cNvPr name="MMConnector" id="155"/>
            <p:cNvSpPr/>
            <p:nvPr/>
          </p:nvSpPr>
          <p:spPr>
            <a:xfrm>
              <a:off y="5094083" x="6346317"/>
              <a:ext cx="318120" cy="235620"/>
            </a:xfrm>
            <a:custGeom>
              <a:avLst/>
              <a:gdLst/>
              <a:pathLst>
                <a:path w="318120" fill="none" h="235620">
                  <a:moveTo>
                    <a:pt y="-117810" x="-86460"/>
                  </a:moveTo>
                  <a:cubicBezTo>
                    <a:pt y="-23562" x="-86460"/>
                    <a:pt y="117810" x="40788"/>
                    <a:pt y="117810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MMConnector" id="156"/>
            <p:cNvSpPr/>
            <p:nvPr/>
          </p:nvSpPr>
          <p:spPr>
            <a:xfrm>
              <a:off y="4622843" x="6346317"/>
              <a:ext cx="463320" cy="706860"/>
            </a:xfrm>
            <a:custGeom>
              <a:avLst/>
              <a:gdLst/>
              <a:pathLst>
                <a:path w="463320" fill="none" h="706860">
                  <a:moveTo>
                    <a:pt y="353430" x="-231660"/>
                  </a:moveTo>
                  <a:lnTo>
                    <a:pt y="353430" x="-86460"/>
                  </a:lnTo>
                  <a:cubicBezTo>
                    <a:pt y="70686" x="-86460"/>
                    <a:pt y="-353430" x="40788"/>
                    <a:pt y="-353430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MMConnector" id="161"/>
            <p:cNvSpPr/>
            <p:nvPr/>
          </p:nvSpPr>
          <p:spPr>
            <a:xfrm>
              <a:off y="3798173" x="6219597"/>
              <a:ext cx="463320" cy="13200"/>
            </a:xfrm>
            <a:custGeom>
              <a:avLst/>
              <a:gdLst/>
              <a:pathLst>
                <a:path w="463320" fill="none" h="13200">
                  <a:moveTo>
                    <a:pt y="0" x="-231660"/>
                  </a:moveTo>
                  <a:lnTo>
                    <a:pt y="0" x="-86460"/>
                  </a:lnTo>
                  <a:cubicBezTo>
                    <a:pt y="0" x="-86460"/>
                    <a:pt y="0" x="40788"/>
                    <a:pt y="0" x="231660"/>
                  </a:cubicBezTo>
                </a:path>
              </a:pathLst>
            </a:custGeom>
            <a:noFill/>
            <a:ln cap="rnd" w="13200">
              <a:solidFill>
                <a:srgbClr val="7C49FA"/>
              </a:solidFill>
              <a:round/>
            </a:ln>
          </p:spPr>
        </p:sp>
        <p:sp>
          <p:nvSpPr>
            <p:cNvPr name="SubTopic" id="116"/>
            <p:cNvSpPr/>
            <p:nvPr/>
          </p:nvSpPr>
          <p:spPr>
            <a:xfrm>
              <a:off y="2662973" x="4236772"/>
              <a:ext cx="3651965" cy="385440"/>
            </a:xfrm>
            <a:custGeom>
              <a:avLst/>
              <a:gdLst>
                <a:gd fmla="*/ 149582 w 3651965" name="rtl"/>
                <a:gd fmla="*/ 51480 h 385440" name="rtt"/>
                <a:gd fmla="*/ 3497103 w 3651965" name="rtr"/>
                <a:gd fmla="*/ 357720 h 385440" name="rtb"/>
              </a:gdLst>
              <a:ahLst/>
              <a:cxnLst/>
              <a:rect l="rtl" t="rtt" r="rtr" b="rtb"/>
              <a:pathLst>
                <a:path w="3651965" h="385440">
                  <a:moveTo>
                    <a:pt y="0" x="192720"/>
                  </a:moveTo>
                  <a:lnTo>
                    <a:pt y="0" x="3459245"/>
                  </a:lnTo>
                  <a:cubicBezTo>
                    <a:pt y="0" x="3565684"/>
                    <a:pt y="86281" x="3651965"/>
                    <a:pt y="192720" x="3651965"/>
                  </a:cubicBezTo>
                  <a:cubicBezTo>
                    <a:pt y="299159" x="3651965"/>
                    <a:pt y="385440" x="3565684"/>
                    <a:pt y="385440" x="345924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C00000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RU-UA MC-Energy Insecurity</a:t>
              </a:r>
            </a:p>
          </p:txBody>
        </p:sp>
        <p:sp>
          <p:nvSpPr>
            <p:cNvPr name="SubTopic" id="117"/>
            <p:cNvSpPr/>
            <p:nvPr/>
          </p:nvSpPr>
          <p:spPr>
            <a:xfrm>
              <a:off y="2191733" x="4236772"/>
              <a:ext cx="3271805" cy="385440"/>
            </a:xfrm>
            <a:custGeom>
              <a:avLst/>
              <a:gdLst>
                <a:gd fmla="*/ 149582 w 3271805" name="rtl"/>
                <a:gd fmla="*/ 51480 h 385440" name="rtt"/>
                <a:gd fmla="*/ 3116943 w 3271805" name="rtr"/>
                <a:gd fmla="*/ 357720 h 385440" name="rtb"/>
              </a:gdLst>
              <a:ahLst/>
              <a:cxnLst/>
              <a:rect l="rtl" t="rtt" r="rtr" b="rtb"/>
              <a:pathLst>
                <a:path w="3271805" h="385440">
                  <a:moveTo>
                    <a:pt y="0" x="192720"/>
                  </a:moveTo>
                  <a:lnTo>
                    <a:pt y="0" x="3079085"/>
                  </a:lnTo>
                  <a:cubicBezTo>
                    <a:pt y="0" x="3185524"/>
                    <a:pt y="86281" x="3271805"/>
                    <a:pt y="192720" x="3271805"/>
                  </a:cubicBezTo>
                  <a:cubicBezTo>
                    <a:pt y="299159" x="3271805"/>
                    <a:pt y="385440" x="3185524"/>
                    <a:pt y="385440" x="30790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35B58F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Water-Energy-Food Nexus</a:t>
              </a:r>
            </a:p>
          </p:txBody>
        </p:sp>
        <p:sp>
          <p:nvSpPr>
            <p:cNvPr name="SubTopic" id="118"/>
            <p:cNvSpPr/>
            <p:nvPr/>
          </p:nvSpPr>
          <p:spPr>
            <a:xfrm>
              <a:off y="3134213" x="4236772"/>
              <a:ext cx="4539005" cy="385440"/>
            </a:xfrm>
            <a:custGeom>
              <a:avLst/>
              <a:gdLst>
                <a:gd fmla="*/ 149582 w 4539005" name="rtl"/>
                <a:gd fmla="*/ 51480 h 385440" name="rtt"/>
                <a:gd fmla="*/ 4384142 w 4539005" name="rtr"/>
                <a:gd fmla="*/ 357720 h 385440" name="rtb"/>
              </a:gdLst>
              <a:ahLst/>
              <a:cxnLst/>
              <a:rect l="rtl" t="rtt" r="rtr" b="rtb"/>
              <a:pathLst>
                <a:path w="4539005" h="385440">
                  <a:moveTo>
                    <a:pt y="0" x="192720"/>
                  </a:moveTo>
                  <a:lnTo>
                    <a:pt y="0" x="4346285"/>
                  </a:lnTo>
                  <a:cubicBezTo>
                    <a:pt y="0" x="4452724"/>
                    <a:pt y="86281" x="4539005"/>
                    <a:pt y="192720" x="4539005"/>
                  </a:cubicBezTo>
                  <a:cubicBezTo>
                    <a:pt y="299159" x="4539005"/>
                    <a:pt y="385440" x="4452724"/>
                    <a:pt y="385440" x="43462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Energy Consumption And Efficiency</a:t>
              </a:r>
            </a:p>
          </p:txBody>
        </p:sp>
        <p:sp>
          <p:nvSpPr>
            <p:cNvPr name="SubTopic" id="119"/>
            <p:cNvSpPr/>
            <p:nvPr/>
          </p:nvSpPr>
          <p:spPr>
            <a:xfrm>
              <a:off y="3605453" x="4236772"/>
              <a:ext cx="1751165" cy="385440"/>
            </a:xfrm>
            <a:custGeom>
              <a:avLst/>
              <a:gdLst>
                <a:gd fmla="*/ 149582 w 1751165" name="rtl"/>
                <a:gd fmla="*/ 51480 h 385440" name="rtt"/>
                <a:gd fmla="*/ 1596302 w 1751165" name="rtr"/>
                <a:gd fmla="*/ 357720 h 385440" name="rtb"/>
              </a:gdLst>
              <a:ahLst/>
              <a:cxnLst/>
              <a:rect l="rtl" t="rtt" r="rtr" b="rtb"/>
              <a:pathLst>
                <a:path w="1751165" h="385440">
                  <a:moveTo>
                    <a:pt y="0" x="192720"/>
                  </a:moveTo>
                  <a:lnTo>
                    <a:pt y="0" x="1558445"/>
                  </a:lnTo>
                  <a:cubicBezTo>
                    <a:pt y="0" x="1664884"/>
                    <a:pt y="86281" x="1751165"/>
                    <a:pt y="192720" x="1751165"/>
                  </a:cubicBezTo>
                  <a:cubicBezTo>
                    <a:pt y="299159" x="1751165"/>
                    <a:pt y="385440" x="1664884"/>
                    <a:pt y="385440" x="155844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Fossil Fuel</a:t>
              </a:r>
            </a:p>
          </p:txBody>
        </p:sp>
        <p:sp>
          <p:nvSpPr>
            <p:cNvPr name="MainTopic" id="120"/>
            <p:cNvSpPr/>
            <p:nvPr/>
          </p:nvSpPr>
          <p:spPr>
            <a:xfrm>
              <a:off y="3360923" x="385170"/>
              <a:ext cx="3388282" cy="638880"/>
            </a:xfrm>
            <a:custGeom>
              <a:avLst/>
              <a:gdLst>
                <a:gd fmla="*/ 325301 w 3388282" name="rtl"/>
                <a:gd fmla="*/ 130680 h 638880" name="rtt"/>
                <a:gd fmla="*/ 3070901 w 3388282" name="rtr"/>
                <a:gd fmla="*/ 531960 h 638880" name="rtb"/>
              </a:gdLst>
              <a:ahLst/>
              <a:cxnLst/>
              <a:rect l="rtl" t="rtt" r="rtr" b="rtb"/>
              <a:pathLst>
                <a:path w="3388282" h="638880">
                  <a:moveTo>
                    <a:pt y="0" x="319440"/>
                  </a:moveTo>
                  <a:lnTo>
                    <a:pt y="0" x="3068842"/>
                  </a:lnTo>
                  <a:cubicBezTo>
                    <a:pt y="0" x="3245268"/>
                    <a:pt y="143013" x="3388282"/>
                    <a:pt y="319440" x="3388282"/>
                  </a:cubicBezTo>
                  <a:cubicBezTo>
                    <a:pt y="495867" x="3388282"/>
                    <a:pt y="638880" x="3245268"/>
                    <a:pt y="638880" x="3068842"/>
                  </a:cubicBezTo>
                  <a:lnTo>
                    <a:pt y="638880" x="319440"/>
                  </a:lnTo>
                  <a:cubicBezTo>
                    <a:pt y="638880" x="143013"/>
                    <a:pt y="495867" x="0"/>
                    <a:pt y="319440" x="0"/>
                  </a:cubicBezTo>
                  <a:cubicBezTo>
                    <a:pt y="143013" x="0"/>
                    <a:pt y="0" x="143013"/>
                    <a:pt y="0" x="319440"/>
                  </a:cubicBezTo>
                  <a:close/>
                </a:path>
              </a:pathLst>
            </a:custGeom>
            <a:solidFill>
              <a:srgbClr val="FF6991"/>
            </a:solidFill>
            <a:ln cap="flat" w="39600">
              <a:solidFill>
                <a:srgbClr val="FF6991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b="1" sz="2128">
                  <a:solidFill>
                    <a:srgbClr val="FFFFFF"/>
                  </a:solidFill>
                  <a:latin typeface="標楷體"/>
                </a:rPr>
                <a:t>Energy Security</a:t>
              </a:r>
            </a:p>
          </p:txBody>
        </p:sp>
        <p:sp>
          <p:nvSpPr>
            <p:cNvPr name="SubTopic" id="123"/>
            <p:cNvSpPr/>
            <p:nvPr/>
          </p:nvSpPr>
          <p:spPr>
            <a:xfrm>
              <a:off y="3605453" x="6451257"/>
              <a:ext cx="737405" cy="385440"/>
            </a:xfrm>
            <a:custGeom>
              <a:avLst/>
              <a:gdLst>
                <a:gd fmla="*/ 149582 w 737405" name="rtl"/>
                <a:gd fmla="*/ 51480 h 385440" name="rtt"/>
                <a:gd fmla="*/ 582542 w 737405" name="rtr"/>
                <a:gd fmla="*/ 357720 h 385440" name="rtb"/>
              </a:gdLst>
              <a:ahLst/>
              <a:cxnLst/>
              <a:rect l="rtl" t="rtt" r="rtr" b="rtb"/>
              <a:pathLst>
                <a:path w="737405" h="385440">
                  <a:moveTo>
                    <a:pt y="0" x="192720"/>
                  </a:moveTo>
                  <a:lnTo>
                    <a:pt y="0" x="544685"/>
                  </a:lnTo>
                  <a:cubicBezTo>
                    <a:pt y="0" x="651124"/>
                    <a:pt y="86281" x="737405"/>
                    <a:pt y="192720" x="737405"/>
                  </a:cubicBezTo>
                  <a:cubicBezTo>
                    <a:pt y="299159" x="737405"/>
                    <a:pt y="385440" x="651124"/>
                    <a:pt y="385440" x="5446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4"/>
            <p:cNvSpPr/>
            <p:nvPr/>
          </p:nvSpPr>
          <p:spPr>
            <a:xfrm>
              <a:off y="4076693" x="6577977"/>
              <a:ext cx="737405" cy="385440"/>
            </a:xfrm>
            <a:custGeom>
              <a:avLst/>
              <a:gdLst>
                <a:gd fmla="*/ 149582 w 737405" name="rtl"/>
                <a:gd fmla="*/ 51480 h 385440" name="rtt"/>
                <a:gd fmla="*/ 582542 w 737405" name="rtr"/>
                <a:gd fmla="*/ 357720 h 385440" name="rtb"/>
              </a:gdLst>
              <a:ahLst/>
              <a:cxnLst/>
              <a:rect l="rtl" t="rtt" r="rtr" b="rtb"/>
              <a:pathLst>
                <a:path w="737405" h="385440">
                  <a:moveTo>
                    <a:pt y="0" x="192720"/>
                  </a:moveTo>
                  <a:lnTo>
                    <a:pt y="0" x="544685"/>
                  </a:lnTo>
                  <a:cubicBezTo>
                    <a:pt y="0" x="651124"/>
                    <a:pt y="86281" x="737405"/>
                    <a:pt y="192720" x="737405"/>
                  </a:cubicBezTo>
                  <a:cubicBezTo>
                    <a:pt y="299159" x="737405"/>
                    <a:pt y="385440" x="651124"/>
                    <a:pt y="385440" x="5446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6"/>
            <p:cNvSpPr/>
            <p:nvPr/>
          </p:nvSpPr>
          <p:spPr>
            <a:xfrm>
              <a:off y="4547933" x="6577977"/>
              <a:ext cx="737405" cy="385440"/>
            </a:xfrm>
            <a:custGeom>
              <a:avLst/>
              <a:gdLst>
                <a:gd fmla="*/ 149582 w 737405" name="rtl"/>
                <a:gd fmla="*/ 51480 h 385440" name="rtt"/>
                <a:gd fmla="*/ 582542 w 737405" name="rtr"/>
                <a:gd fmla="*/ 357720 h 385440" name="rtb"/>
              </a:gdLst>
              <a:ahLst/>
              <a:cxnLst/>
              <a:rect l="rtl" t="rtt" r="rtr" b="rtb"/>
              <a:pathLst>
                <a:path w="737405" h="385440">
                  <a:moveTo>
                    <a:pt y="0" x="192720"/>
                  </a:moveTo>
                  <a:lnTo>
                    <a:pt y="0" x="544685"/>
                  </a:lnTo>
                  <a:cubicBezTo>
                    <a:pt y="0" x="651124"/>
                    <a:pt y="86281" x="737405"/>
                    <a:pt y="192720" x="737405"/>
                  </a:cubicBezTo>
                  <a:cubicBezTo>
                    <a:pt y="299159" x="737405"/>
                    <a:pt y="385440" x="651124"/>
                    <a:pt y="385440" x="5446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27"/>
            <p:cNvSpPr/>
            <p:nvPr/>
          </p:nvSpPr>
          <p:spPr>
            <a:xfrm>
              <a:off y="4783553" x="4236772"/>
              <a:ext cx="1877885" cy="385440"/>
            </a:xfrm>
            <a:custGeom>
              <a:avLst/>
              <a:gdLst>
                <a:gd fmla="*/ 149582 w 1877885" name="rtl"/>
                <a:gd fmla="*/ 51480 h 385440" name="rtt"/>
                <a:gd fmla="*/ 1723022 w 1877885" name="rtr"/>
                <a:gd fmla="*/ 357720 h 385440" name="rtb"/>
              </a:gdLst>
              <a:ahLst/>
              <a:cxnLst/>
              <a:rect l="rtl" t="rtt" r="rtr" b="rtb"/>
              <a:pathLst>
                <a:path w="1877885" h="385440">
                  <a:moveTo>
                    <a:pt y="0" x="192720"/>
                  </a:moveTo>
                  <a:lnTo>
                    <a:pt y="0" x="1685165"/>
                  </a:lnTo>
                  <a:cubicBezTo>
                    <a:pt y="0" x="1791604"/>
                    <a:pt y="86281" x="1877885"/>
                    <a:pt y="192720" x="1877885"/>
                  </a:cubicBezTo>
                  <a:cubicBezTo>
                    <a:pt y="299159" x="1877885"/>
                    <a:pt y="385440" x="1791604"/>
                    <a:pt y="385440" x="168516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Green Energy</a:t>
              </a:r>
            </a:p>
          </p:txBody>
        </p:sp>
        <p:sp>
          <p:nvSpPr>
            <p:cNvPr name="SubTopic" id="130"/>
            <p:cNvSpPr/>
            <p:nvPr/>
          </p:nvSpPr>
          <p:spPr>
            <a:xfrm>
              <a:off y="5019173" x="6577977"/>
              <a:ext cx="737405" cy="385440"/>
            </a:xfrm>
            <a:custGeom>
              <a:avLst/>
              <a:gdLst>
                <a:gd fmla="*/ 149582 w 737405" name="rtl"/>
                <a:gd fmla="*/ 51480 h 385440" name="rtt"/>
                <a:gd fmla="*/ 582542 w 737405" name="rtr"/>
                <a:gd fmla="*/ 357720 h 385440" name="rtb"/>
              </a:gdLst>
              <a:ahLst/>
              <a:cxnLst/>
              <a:rect l="rtl" t="rtt" r="rtr" b="rtb"/>
              <a:pathLst>
                <a:path w="737405" h="385440">
                  <a:moveTo>
                    <a:pt y="0" x="192720"/>
                  </a:moveTo>
                  <a:lnTo>
                    <a:pt y="0" x="544685"/>
                  </a:lnTo>
                  <a:cubicBezTo>
                    <a:pt y="0" x="651124"/>
                    <a:pt y="86281" x="737405"/>
                    <a:pt y="192720" x="737405"/>
                  </a:cubicBezTo>
                  <a:cubicBezTo>
                    <a:pt y="299159" x="737405"/>
                    <a:pt y="385440" x="651124"/>
                    <a:pt y="385440" x="5446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7C49FA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  <p:sp>
          <p:nvSpPr>
            <p:cNvPr name="SubTopic" id="135"/>
            <p:cNvSpPr/>
            <p:nvPr/>
          </p:nvSpPr>
          <p:spPr>
            <a:xfrm>
              <a:off y="5490413" x="6577977"/>
              <a:ext cx="737405" cy="385440"/>
            </a:xfrm>
            <a:custGeom>
              <a:avLst/>
              <a:gdLst>
                <a:gd fmla="*/ 149582 w 737405" name="rtl"/>
                <a:gd fmla="*/ 51480 h 385440" name="rtt"/>
                <a:gd fmla="*/ 582542 w 737405" name="rtr"/>
                <a:gd fmla="*/ 357720 h 385440" name="rtb"/>
              </a:gdLst>
              <a:ahLst/>
              <a:cxnLst/>
              <a:rect l="rtl" t="rtt" r="rtr" b="rtb"/>
              <a:pathLst>
                <a:path w="737405" h="385440">
                  <a:moveTo>
                    <a:pt y="0" x="192720"/>
                  </a:moveTo>
                  <a:lnTo>
                    <a:pt y="0" x="544685"/>
                  </a:lnTo>
                  <a:cubicBezTo>
                    <a:pt y="0" x="651124"/>
                    <a:pt y="86281" x="737405"/>
                    <a:pt y="192720" x="737405"/>
                  </a:cubicBezTo>
                  <a:cubicBezTo>
                    <a:pt y="299159" x="737405"/>
                    <a:pt y="385440" x="651124"/>
                    <a:pt y="385440" x="544685"/>
                  </a:cubicBezTo>
                  <a:lnTo>
                    <a:pt y="385440" x="192720"/>
                  </a:lnTo>
                  <a:cubicBezTo>
                    <a:pt y="385440" x="86281"/>
                    <a:pt y="299159" x="0"/>
                    <a:pt y="192720" x="0"/>
                  </a:cubicBezTo>
                  <a:cubicBezTo>
                    <a:pt y="86281" x="0"/>
                    <a:pt y="0" x="86281"/>
                    <a:pt y="0" x="192720"/>
                  </a:cubicBezTo>
                  <a:close/>
                </a:path>
              </a:pathLst>
            </a:custGeom>
            <a:solidFill>
              <a:srgbClr val="FFEBEE"/>
            </a:solidFill>
            <a:ln cap="flat" w="13200">
              <a:solidFill>
                <a:srgbClr val="F0C43D"/>
              </a:solidFill>
              <a:round/>
            </a:ln>
          </p:spPr>
          <p:txBody>
            <a:bodyPr rIns="0" lIns="0" rtlCol="0" tIns="0" wrap="none" bIns="11000" anchor="ctr"/>
            <a:lstStyle/>
            <a:p>
              <a:pPr algn="ctr">
                <a:lnSpc>
                  <a:spcPct val="100000"/>
                </a:lnSpc>
              </a:pPr>
              <a:r>
                <a:rPr sz="1596">
                  <a:solidFill>
                    <a:srgbClr val="454545"/>
                  </a:solidFill>
                  <a:latin typeface="標楷體"/>
                </a:rPr>
                <a:t>...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0</PresentationFormat>
  <Paragraphs>0</Paragraphs>
  <Slides>5</Slides>
  <Notes>0</Notes>
  <HiddenSlides>0</HiddenSlides>
  <MMClips>0</MMClips>
  <ScaleCrop>false</ScaleCrop>
  <HeadingPairs>
    <vt:vector baseType="variant" size="4">
      <vt:variant>
        <vt:lpstr>Topic</vt:lpstr>
      </vt:variant>
      <vt:variant>
        <vt:i4>1</vt:i4>
      </vt:variant>
      <vt:variant>
        <vt:lpstr>Slide Title</vt:lpstr>
      </vt:variant>
      <vt:variant>
        <vt:i4>1</vt:i4>
      </vt:variant>
    </vt:vector>
  </HeadingPairs>
  <TitlesOfParts>
    <vt:vector baseType="lpstr" size="2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dc="http://purl.org/dc/elements/1.1/" xmlns:dcterms="http://purl.org/dc/terms/" xmlns:dcmitype="http://purl.org/dc/dcmitype/" xmlns:cp="http://schemas.openxmlformats.org/package/2006/metadata/core-properties" xmlns:xsi="http://www.w3.org/2001/XMLSchema-instance">
  <dc:title>PowerPoint Presentation</dc:title>
  <dc:creator>Winon</dc:creator>
  <cp:lastModifiedBy>Winon</cp:lastModifiedBy>
  <cp:revision>1</cp:revision>
  <dcterms:created xsi:type="dcterms:W3CDTF">2023-10-18T14:40:29Z</dcterms:created>
  <dcterms:modified xsi:type="dcterms:W3CDTF">2023-10-18T14:40:29Z</dcterms:modified>
</cp:coreProperties>
</file>