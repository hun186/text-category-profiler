
<file path=[Content_Types].xml><?xml version="1.0" encoding="utf-8"?>
<Types xmlns="http://schemas.openxmlformats.org/package/2006/content-types">
  <Default ContentType="image/png" Extension="png"/>
  <Default ContentType="image/jpeg" Extension="jpeg"/>
  <Default ContentType="image/ico" Extension="ico"/>
  <Default ContentType="image/bmp" Extension="bmp"/>
  <Default ContentType="image/gif" Extension="gif"/>
  <Default ContentType="image/tiff" Extension="tiff"/>
  <Default ContentType="image/wmf" Extension="wmf"/>
  <Default ContentType="image/emf" Extension="emf"/>
  <Default ContentType="application/vnd.openxmlformats-package.relationships+xml" Extension="rels"/>
  <Default ContentType="application/xml" Extension="xml"/>
  <Default ContentType="application/octet-stream" Extension="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
  <Relationship Id="rId3" Target="docProps/core.xml" Type="http://schemas.openxmlformats.org/package/2006/relationships/metadata/core-properties"/>
  <Relationship Id="rId2" Target="docProps/thumbnail.jpeg" Type="http://schemas.openxmlformats.org/package/2006/relationships/metadata/thumbnail"/>
  <Relationship Id="rId1" Target="ppt/presentation.xml" Type="http://schemas.openxmlformats.org/officeDocument/2006/relationships/officeDocument"/>
  <Relationship Id="rId4" Target="docProps/app.xml" Type="http://schemas.openxmlformats.org/officeDocument/2006/relationships/extended-properties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 type="screen4x3"/>
  <p:notesSz cy="9144000" cx="6858000"/>
  <p:defaultTextStyle>
    <a:defPPr>
      <a:defRPr lang="zh-tw"/>
    </a:defPPr>
    <a:lvl1pPr eaLnBrk="1" latinLnBrk="0" marL="0" algn="l" hangingPunct="1" defTabSz="91440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eaLnBrk="1" latinLnBrk="0" marL="457200" algn="l" hangingPunct="1" defTabSz="9144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eaLnBrk="1" latinLnBrk="0" marL="914400" algn="l" hangingPunct="1" defTabSz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eaLnBrk="1" latinLnBrk="0" marL="1371600" algn="l" hangingPunct="1" defTabSz="9144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eaLnBrk="1" latinLnBrk="0" marL="1828800" algn="l" hangingPunct="1" defTabSz="9144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eaLnBrk="1" latinLnBrk="0" marL="2286000" algn="l" hangingPunct="1" defTabSz="9144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eaLnBrk="1" latinLnBrk="0" marL="2743200" algn="l" hangingPunct="1" defTabSz="9144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eaLnBrk="1" latinLnBrk="0" marL="3200400" algn="l" hangingPunct="1" defTabSz="914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eaLnBrk="1" latinLnBrk="0" marL="3657600" algn="l" hangingPunct="1" defTabSz="9144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75" d="100"/>
          <a:sy n="75" d="100"/>
        </p:scale>
        <p:origin y="288" x="66"/>
      </p:cViewPr>
      <p:guideLst/>
    </p:cSldViewPr>
  </p:slideViewPr>
  <p:notesTextViewPr>
    <p:cViewPr>
      <p:scale>
        <a:sx n="1" d="1"/>
        <a:sy n="1" d="1"/>
      </p:scale>
      <p:origin y="0" x="0"/>
    </p:cViewPr>
  </p:notesTextViewPr>
  <p:gridSpacing cy="72008" cx="72008"/>
</p:viewPr>
</file>

<file path=ppt/_rels/presentation.xml.rels><?xml version="1.0" encoding="UTF-8" standalone="yes"?>
<Relationships xmlns="http://schemas.openxmlformats.org/package/2006/relationships">
  <Relationship Id="rId1" Target="slideMasters/slideMaster1.xml" Type="http://schemas.openxmlformats.org/officeDocument/2006/relationships/slideMaster"/>
  <Relationship Id="rId2" Target="tableStyles.xml" Type="http://schemas.openxmlformats.org/officeDocument/2006/relationships/tableStyles"/>
  <Relationship Id="rId3" Target="theme/theme1.xml" Type="http://schemas.openxmlformats.org/officeDocument/2006/relationships/theme"/>
  <Relationship Id="rId4" Target="viewProps.xml" Type="http://schemas.openxmlformats.org/officeDocument/2006/relationships/viewProps"/>
  <Relationship Id="rId5" Target="presProps.xml" Type="http://schemas.openxmlformats.org/officeDocument/2006/relationships/presProps"/>
  <Relationship Id="rId6" Target="slides/slide1.xml" Type="http://schemas.openxmlformats.org/officeDocument/2006/relationships/slide"/>
  <Relationship Id="rId7" Target="slides/slide2.xml" Type="http://schemas.openxmlformats.org/officeDocument/2006/relationships/slide"/>
  <Relationship Id="rId8" Target="slides/slide3.xml" Type="http://schemas.openxmlformats.org/officeDocument/2006/relationships/slide"/>
  <Relationship Id="rId9" Target="slides/slide4.xml" Type="http://schemas.openxmlformats.org/officeDocument/2006/relationships/slide"/>
  <Relationship Id="rId10" Target="slides/slide5.xml" Type="http://schemas.openxmlformats.org/officeDocument/2006/relationships/slide"/>
  <Relationship Id="rId11" Target="slides/slide6.xml" Type="http://schemas.openxmlformats.org/officeDocument/2006/relationships/slide"/>
  <Relationship Id="rId12" Target="slides/slide7.xml" Type="http://schemas.openxmlformats.org/officeDocument/2006/relationships/slide"/>
  <Relationship Id="rId13" Target="slides/slide8.xml" Type="http://schemas.openxmlformats.org/officeDocument/2006/relationships/slide"/>
</Relationships>

</file>

<file path=ppt/slideLayouts/_rels/slideLayout1.xml.rels><?xml version="1.0" encoding="UTF-8" standalone="yes"?>
<Relationships xmlns="http://schemas.openxmlformats.org/package/2006/relationships">
  <Relationship Id="rId1" Target="../slideMasters/slideMaster1.xml" Type="http://schemas.openxmlformats.org/officeDocument/2006/relationships/slideMaster"/>
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12708C-2602-4C50-90B3-38403DD6A526}" type="datetimeFigureOut">
              <a:rPr lang="zh-CN" altLang="en-US" smtClean="0"/>
              <a:t>2016/11/23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E20AC-CFD9-4F54-B258-06C9616827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arget="../slideLayouts/slideLayout1.xml" Type="http://schemas.openxmlformats.org/officeDocument/2006/relationships/slideLayout"/>
</Relationships>

</file>

<file path=ppt/slides/_rels/slide2.xml.rels><?xml version="1.0" encoding="UTF-8" standalone="yes"?>
<Relationships xmlns="http://schemas.openxmlformats.org/package/2006/relationships">
  <Relationship Id="rId1" Target="../slideLayouts/slideLayout1.xml" Type="http://schemas.openxmlformats.org/officeDocument/2006/relationships/slideLayout"/>
</Relationships>

</file>

<file path=ppt/slides/_rels/slide3.xml.rels><?xml version="1.0" encoding="UTF-8" standalone="yes"?>
<Relationships xmlns="http://schemas.openxmlformats.org/package/2006/relationships">
  <Relationship Id="rId1" Target="../slideLayouts/slideLayout1.xml" Type="http://schemas.openxmlformats.org/officeDocument/2006/relationships/slideLayout"/>
</Relationships>

</file>

<file path=ppt/slides/_rels/slide4.xml.rels><?xml version="1.0" encoding="UTF-8" standalone="yes"?>
<Relationships xmlns="http://schemas.openxmlformats.org/package/2006/relationships">
  <Relationship Id="rId1" Target="../slideLayouts/slideLayout1.xml" Type="http://schemas.openxmlformats.org/officeDocument/2006/relationships/slideLayout"/>
</Relationships>

</file>

<file path=ppt/slides/_rels/slide5.xml.rels><?xml version="1.0" encoding="UTF-8" standalone="yes"?>
<Relationships xmlns="http://schemas.openxmlformats.org/package/2006/relationships">
  <Relationship Id="rId1" Target="../slideLayouts/slideLayout1.xml" Type="http://schemas.openxmlformats.org/officeDocument/2006/relationships/slideLayout"/>
</Relationships>

</file>

<file path=ppt/slides/_rels/slide6.xml.rels><?xml version="1.0" encoding="UTF-8" standalone="yes"?>
<Relationships xmlns="http://schemas.openxmlformats.org/package/2006/relationships">
  <Relationship Id="rId1" Target="../slideLayouts/slideLayout1.xml" Type="http://schemas.openxmlformats.org/officeDocument/2006/relationships/slideLayout"/>
</Relationships>

</file>

<file path=ppt/slides/_rels/slide7.xml.rels><?xml version="1.0" encoding="UTF-8" standalone="yes"?>
<Relationships xmlns="http://schemas.openxmlformats.org/package/2006/relationships">
  <Relationship Id="rId1" Target="../slideLayouts/slideLayout1.xml" Type="http://schemas.openxmlformats.org/officeDocument/2006/relationships/slideLayout"/>
</Relationships>

</file>

<file path=ppt/slides/_rels/slide8.xml.rels><?xml version="1.0" encoding="UTF-8" standalone="yes"?>
<Relationships xmlns="http://schemas.openxmlformats.org/package/2006/relationships">
  <Relationship Id="rId1" Target="../slideLayouts/slideLayout1.xml" Type="http://schemas.openxmlformats.org/officeDocument/2006/relationships/slideLayout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000100" name="頁面-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grpSp>
        <p:nvGrpSpPr>
          <p:cNvPr id="167" name="Group167"/>
          <p:cNvGrpSpPr/>
          <p:nvPr/>
        </p:nvGrpSpPr>
        <p:grpSpPr>
          <a:xfrm>
            <a:off y="2680000" x="2876600"/>
            <a:ext cy="1498000" cx="3390800"/>
            <a:chOff y="2680000" x="2876600"/>
            <a:chExt cy="1498000" cx="3390800"/>
          </a:xfrm>
        </p:grpSpPr>
        <p:sp>
          <p:nvSpPr>
            <p:cNvPr id="157" name="MainIdea"/>
            <p:cNvSpPr/>
            <p:nvPr/>
          </p:nvSpPr>
          <p:spPr>
            <a:xfrm>
              <a:off y="2986714" x="2939600"/>
              <a:ext cy="1372000" cx="3264800"/>
            </a:xfrm>
            <a:custGeom>
              <a:avLst/>
              <a:gdLst>
                <a:gd fmla="*/ 560700 w 3264800" name="rtl"/>
                <a:gd fmla="*/ 342300 h 1372000" name="rtt"/>
                <a:gd fmla="*/ 2716700 w 3264800" name="rtr"/>
                <a:gd fmla="*/ 1042300 h 1372000" name="rtb"/>
              </a:gdLst>
              <a:ahLst/>
              <a:cxnLst/>
              <a:rect t="rtt" l="rtl" b="rtb" r="rtr"/>
              <a:pathLst>
                <a:path w="3264800" h="1372000">
                  <a:moveTo>
                    <a:pt y="0" x="686000"/>
                  </a:moveTo>
                  <a:lnTo>
                    <a:pt y="0" x="2578800"/>
                  </a:lnTo>
                  <a:cubicBezTo>
                    <a:pt y="0" x="2957678"/>
                    <a:pt y="307122" x="3264800"/>
                    <a:pt y="686000" x="3264800"/>
                  </a:cubicBezTo>
                  <a:cubicBezTo>
                    <a:pt y="1064878" x="3264800"/>
                    <a:pt y="1372000" x="2957678"/>
                    <a:pt y="1372000" x="2578800"/>
                  </a:cubicBezTo>
                  <a:lnTo>
                    <a:pt y="1372000" x="686000"/>
                  </a:lnTo>
                  <a:cubicBezTo>
                    <a:pt y="1372000" x="307122"/>
                    <a:pt y="1064878" x="0"/>
                    <a:pt y="686000" x="0"/>
                  </a:cubicBezTo>
                  <a:cubicBezTo>
                    <a:pt y="307122" x="0"/>
                    <a:pt y="0" x="307122"/>
                    <a:pt y="0" x="686000"/>
                  </a:cubicBezTo>
                  <a:close/>
                </a:path>
              </a:pathLst>
            </a:custGeom>
            <a:solidFill>
              <a:srgbClr val="00AF54"/>
            </a:solidFill>
            <a:ln cap="flat" w="63000">
              <a:solidFill>
                <a:srgbClr val="00AF54"/>
              </a:solidFill>
              <a:round/>
            </a:ln>
          </p:spPr>
          <p:txBody>
            <a:bodyPr rIns="0" lIns="0" bIns="11000" rtlCol="0" anchor="ctr" wrap="none" tIns="0"/>
            <a:lstStyle/>
            <a:p>
              <a:pPr algn="ctr">
                <a:lnSpc>
                  <a:spcPct val="100000"/>
                </a:lnSpc>
              </a:pPr>
              <a:r>
                <a:rPr sz="3780" b="1">
                  <a:solidFill>
                    <a:srgbClr val="FFFFFF"/>
                  </a:solidFill>
                  <a:latin typeface="Arial"/>
                </a:rPr>
                <a:t>中心主題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000100" name="頁面-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grpSp>
        <p:nvGrpSpPr>
          <p:cNvPr id="168" name="Group168"/>
          <p:cNvGrpSpPr/>
          <p:nvPr/>
        </p:nvGrpSpPr>
        <p:grpSpPr>
          <a:xfrm>
            <a:off y="2956500" x="3308500"/>
            <a:ext cy="945000" cx="2527000"/>
            <a:chOff y="2956500" x="3308500"/>
            <a:chExt cy="945000" cx="2527000"/>
          </a:xfrm>
        </p:grpSpPr>
        <p:sp>
          <p:nvSpPr>
            <p:cNvPr id="101" name="MainTopic"/>
            <p:cNvSpPr/>
            <p:nvPr/>
          </p:nvSpPr>
          <p:spPr>
            <a:xfrm>
              <a:off y="3180128" x="3350500"/>
              <a:ext cy="861000" cx="2443000"/>
            </a:xfrm>
            <a:custGeom>
              <a:avLst/>
              <a:gdLst>
                <a:gd fmla="*/ 373800 w 2443000" name="rtl"/>
                <a:gd fmla="*/ 174300 h 861000" name="rtt"/>
                <a:gd fmla="*/ 2081800 w 2443000" name="rtr"/>
                <a:gd fmla="*/ 678300 h 861000" name="rtb"/>
              </a:gdLst>
              <a:ahLst/>
              <a:cxnLst/>
              <a:rect t="rtt" l="rtl" b="rtb" r="rtr"/>
              <a:pathLst>
                <a:path w="2443000" h="861000">
                  <a:moveTo>
                    <a:pt y="0" x="84000"/>
                  </a:moveTo>
                  <a:lnTo>
                    <a:pt y="0" x="2359000"/>
                  </a:lnTo>
                  <a:cubicBezTo>
                    <a:pt y="0" x="2415448"/>
                    <a:pt y="27552" x="2443000"/>
                    <a:pt y="84000" x="2443000"/>
                  </a:cubicBezTo>
                  <a:lnTo>
                    <a:pt y="777000" x="2443000"/>
                  </a:lnTo>
                  <a:cubicBezTo>
                    <a:pt y="833448" x="2443000"/>
                    <a:pt y="861000" x="2415448"/>
                    <a:pt y="861000" x="2359000"/>
                  </a:cubicBezTo>
                  <a:lnTo>
                    <a:pt y="861000" x="84000"/>
                  </a:lnTo>
                  <a:cubicBezTo>
                    <a:pt y="861000" x="27552"/>
                    <a:pt y="833448" x="0"/>
                    <a:pt y="777000" x="0"/>
                  </a:cubicBezTo>
                  <a:lnTo>
                    <a:pt y="84000" x="0"/>
                  </a:lnTo>
                  <a:cubicBezTo>
                    <a:pt y="27552" x="0"/>
                    <a:pt y="0" x="27552"/>
                    <a:pt y="0" x="84000"/>
                  </a:cubicBezTo>
                  <a:close/>
                </a:path>
              </a:pathLst>
            </a:custGeom>
            <a:solidFill>
              <a:srgbClr val="FFFFFF"/>
            </a:solidFill>
            <a:ln cap="flat" w="42000">
              <a:solidFill>
                <a:srgbClr val="454545"/>
              </a:solidFill>
              <a:round/>
            </a:ln>
          </p:spPr>
          <p:txBody>
            <a:bodyPr rIns="0" lIns="0" bIns="11000" rtlCol="0" anchor="ctr" wrap="none" tIns="0"/>
            <a:lstStyle/>
            <a:p>
              <a:pPr algn="ctr">
                <a:lnSpc>
                  <a:spcPct val="100000"/>
                </a:lnSpc>
              </a:pPr>
              <a:r>
                <a:rPr sz="2940" b="1">
                  <a:solidFill>
                    <a:srgbClr val="303030"/>
                  </a:solidFill>
                  <a:latin typeface="STKaiti"/>
                </a:rPr>
                <a:t>中美關係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000100" name="頁面-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grpSp>
        <p:nvGrpSpPr>
          <p:cNvPr id="169" name="Group169"/>
          <p:cNvGrpSpPr/>
          <p:nvPr/>
        </p:nvGrpSpPr>
        <p:grpSpPr>
          <a:xfrm>
            <a:off y="3142000" x="3419940"/>
            <a:ext cy="574000" cx="2304120"/>
            <a:chOff y="3142000" x="3419940"/>
            <a:chExt cy="574000" cx="2304120"/>
          </a:xfrm>
        </p:grpSpPr>
        <p:sp>
          <p:nvSpPr>
            <p:cNvPr id="102" name="SubTopic"/>
            <p:cNvSpPr/>
            <p:nvPr/>
          </p:nvSpPr>
          <p:spPr>
            <a:xfrm>
              <a:off y="3328609" x="3440940"/>
              <a:ext cy="532000" cx="2262120"/>
            </a:xfrm>
            <a:custGeom>
              <a:avLst/>
              <a:gdLst>
                <a:gd fmla="*/ 88340 w 2262120" name="rtl"/>
                <a:gd fmla="*/ 79800 h 532000" name="rtt"/>
                <a:gd fmla="*/ 1852340 w 2262120" name="rtr"/>
                <a:gd fmla="*/ 443800 h 532000" name="rtb"/>
              </a:gdLst>
              <a:ahLst/>
              <a:cxnLst/>
              <a:rect t="rtt" l="rtl" b="rtb" r="rtr"/>
              <a:pathLst>
                <a:path w="2262120" h="532000">
                  <a:moveTo>
                    <a:pt y="0" x="0"/>
                  </a:moveTo>
                  <a:lnTo>
                    <a:pt y="0" x="1889720"/>
                  </a:lnTo>
                  <a:lnTo>
                    <a:pt y="266000" x="2262120"/>
                  </a:lnTo>
                  <a:lnTo>
                    <a:pt y="530380" x="1889720"/>
                  </a:lnTo>
                  <a:lnTo>
                    <a:pt y="532000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FFFFFF"/>
            </a:solidFill>
            <a:ln cap="flat" w="21000">
              <a:solidFill>
                <a:srgbClr val="454545"/>
              </a:solidFill>
              <a:round/>
            </a:ln>
          </p:spPr>
          <p:txBody>
            <a:bodyPr rIns="0" lIns="0" bIns="11000" rtlCol="0" anchor="ctr" wrap="none" tIns="0"/>
            <a:lstStyle/>
            <a:p>
              <a:pPr algn="ctr">
                <a:lnSpc>
                  <a:spcPct val="100000"/>
                </a:lnSpc>
              </a:pPr>
              <a:r>
                <a:rPr sz="2100">
                  <a:solidFill>
                    <a:srgbClr val="303030"/>
                  </a:solidFill>
                  <a:latin typeface="STKaiti"/>
                </a:rPr>
                <a:t>中美戰略對話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000100" name="頁面-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grpSp>
        <p:nvGrpSpPr>
          <p:cNvPr id="170" name="Group170"/>
          <p:cNvGrpSpPr/>
          <p:nvPr/>
        </p:nvGrpSpPr>
        <p:grpSpPr>
          <a:xfrm>
            <a:off y="3142000" x="3139940"/>
            <a:ext cy="574000" cx="2864120"/>
            <a:chOff y="3142000" x="3139940"/>
            <a:chExt cy="574000" cx="2864120"/>
          </a:xfrm>
        </p:grpSpPr>
        <p:sp>
          <p:nvSpPr>
            <p:cNvPr id="104" name="SubTopic"/>
            <p:cNvSpPr/>
            <p:nvPr/>
          </p:nvSpPr>
          <p:spPr>
            <a:xfrm>
              <a:off y="3368859" x="3160940"/>
              <a:ext cy="532000" cx="2822120"/>
            </a:xfrm>
            <a:custGeom>
              <a:avLst/>
              <a:gdLst>
                <a:gd fmla="*/ 88340 w 2822120" name="rtl"/>
                <a:gd fmla="*/ 79800 h 532000" name="rtt"/>
                <a:gd fmla="*/ 2412340 w 2822120" name="rtr"/>
                <a:gd fmla="*/ 443800 h 532000" name="rtb"/>
              </a:gdLst>
              <a:ahLst/>
              <a:cxnLst/>
              <a:rect t="rtt" l="rtl" b="rtb" r="rtr"/>
              <a:pathLst>
                <a:path w="2822120" h="532000">
                  <a:moveTo>
                    <a:pt y="0" x="0"/>
                  </a:moveTo>
                  <a:lnTo>
                    <a:pt y="0" x="2449720"/>
                  </a:lnTo>
                  <a:lnTo>
                    <a:pt y="266000" x="2822120"/>
                  </a:lnTo>
                  <a:lnTo>
                    <a:pt y="530380" x="2449720"/>
                  </a:lnTo>
                  <a:lnTo>
                    <a:pt y="532000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FFFFFF"/>
            </a:solidFill>
            <a:ln cap="flat" w="21000">
              <a:solidFill>
                <a:srgbClr val="454545"/>
              </a:solidFill>
              <a:round/>
            </a:ln>
          </p:spPr>
          <p:txBody>
            <a:bodyPr rIns="0" lIns="0" bIns="11000" rtlCol="0" anchor="ctr" wrap="none" tIns="0"/>
            <a:lstStyle/>
            <a:p>
              <a:pPr algn="ctr">
                <a:lnSpc>
                  <a:spcPct val="100000"/>
                </a:lnSpc>
              </a:pPr>
              <a:r>
                <a:rPr sz="2100">
                  <a:solidFill>
                    <a:srgbClr val="303030"/>
                  </a:solidFill>
                  <a:latin typeface="STKaiti"/>
                </a:rPr>
                <a:t>中美新型大國關係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000100" name="頁面-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grpSp>
        <p:nvGrpSpPr>
          <p:cNvPr id="171" name="Group171"/>
          <p:cNvGrpSpPr/>
          <p:nvPr/>
        </p:nvGrpSpPr>
        <p:grpSpPr>
          <a:xfrm>
            <a:off y="2269994" x="357013"/>
            <a:ext cy="2320000" cx="8437200"/>
            <a:chOff y="2269994" x="357013"/>
            <a:chExt cy="2320000" cx="8437200"/>
          </a:xfrm>
        </p:grpSpPr>
        <p:sp>
          <p:nvSpPr>
            <p:cNvPr id="133" name="MMConnector"/>
            <p:cNvSpPr/>
            <p:nvPr/>
          </p:nvSpPr>
          <p:spPr>
            <a:xfrm>
              <a:off y="4633292" x="1911813"/>
              <a:ext cy="716250" cx="483000"/>
            </a:xfrm>
            <a:custGeom>
              <a:avLst/>
              <a:gdLst/>
              <a:pathLst>
                <a:path w="483000" h="716250" fill="none">
                  <a:moveTo>
                    <a:pt y="-358125" x="-159000"/>
                  </a:moveTo>
                  <a:cubicBezTo>
                    <a:pt y="358125" x="85080"/>
                    <a:pt y="358125" x="85080"/>
                    <a:pt y="358125" x="324000"/>
                  </a:cubicBezTo>
                </a:path>
              </a:pathLst>
            </a:custGeom>
            <a:noFill/>
            <a:ln cap="rnd" w="15000">
              <a:solidFill>
                <a:srgbClr val="454545"/>
              </a:solidFill>
              <a:round/>
              <a:tailEnd w="sm" len="sm" type="stealth"/>
            </a:ln>
          </p:spPr>
        </p:sp>
        <p:sp>
          <p:nvSpPr>
            <p:cNvPr id="135" name="MMConnector"/>
            <p:cNvSpPr/>
            <p:nvPr/>
          </p:nvSpPr>
          <p:spPr>
            <a:xfrm>
              <a:off y="4991417" x="3975613"/>
              <a:ext cy="15000" cx="648000"/>
            </a:xfrm>
            <a:custGeom>
              <a:avLst/>
              <a:gdLst/>
              <a:pathLst>
                <a:path w="648000" h="15000" fill="none">
                  <a:moveTo>
                    <a:pt y="0" x="-324000"/>
                  </a:moveTo>
                  <a:lnTo>
                    <a:pt y="0" x="-159000"/>
                  </a:lnTo>
                  <a:cubicBezTo>
                    <a:pt y="0" x="85080"/>
                    <a:pt y="0" x="85080"/>
                    <a:pt y="0" x="324000"/>
                  </a:cubicBezTo>
                </a:path>
              </a:pathLst>
            </a:custGeom>
            <a:noFill/>
            <a:ln cap="rnd" w="15000">
              <a:solidFill>
                <a:srgbClr val="454545"/>
              </a:solidFill>
              <a:round/>
              <a:tailEnd w="sm" len="sm" type="stealth"/>
            </a:ln>
          </p:spPr>
        </p:sp>
        <p:sp>
          <p:nvSpPr>
            <p:cNvPr id="137" name="MMConnector"/>
            <p:cNvSpPr/>
            <p:nvPr/>
          </p:nvSpPr>
          <p:spPr>
            <a:xfrm>
              <a:off y="4991417" x="6239413"/>
              <a:ext cy="15000" cx="648000"/>
            </a:xfrm>
            <a:custGeom>
              <a:avLst/>
              <a:gdLst/>
              <a:pathLst>
                <a:path w="648000" h="15000" fill="none">
                  <a:moveTo>
                    <a:pt y="0" x="-324000"/>
                  </a:moveTo>
                  <a:lnTo>
                    <a:pt y="0" x="-159000"/>
                  </a:lnTo>
                  <a:cubicBezTo>
                    <a:pt y="0" x="85080"/>
                    <a:pt y="0" x="85080"/>
                    <a:pt y="0" x="324000"/>
                  </a:cubicBezTo>
                </a:path>
              </a:pathLst>
            </a:custGeom>
            <a:noFill/>
            <a:ln cap="rnd" w="15000">
              <a:solidFill>
                <a:srgbClr val="454545"/>
              </a:solidFill>
              <a:round/>
              <a:tailEnd w="sm" len="sm" type="stealth"/>
            </a:ln>
          </p:spPr>
        </p:sp>
        <p:sp>
          <p:nvSpPr>
            <p:cNvPr id="139" name="MMConnector"/>
            <p:cNvSpPr/>
            <p:nvPr/>
          </p:nvSpPr>
          <p:spPr>
            <a:xfrm>
              <a:off y="3917042" x="1911813"/>
              <a:ext cy="716250" cx="648000"/>
            </a:xfrm>
            <a:custGeom>
              <a:avLst/>
              <a:gdLst/>
              <a:pathLst>
                <a:path w="648000" h="716250" fill="none">
                  <a:moveTo>
                    <a:pt y="358125" x="-324000"/>
                  </a:moveTo>
                  <a:lnTo>
                    <a:pt y="358125" x="-159000"/>
                  </a:lnTo>
                  <a:cubicBezTo>
                    <a:pt y="-358125" x="85080"/>
                    <a:pt y="-358125" x="85080"/>
                    <a:pt y="-358125" x="324000"/>
                  </a:cubicBezTo>
                </a:path>
              </a:pathLst>
            </a:custGeom>
            <a:noFill/>
            <a:ln cap="rnd" w="15000">
              <a:solidFill>
                <a:srgbClr val="454545"/>
              </a:solidFill>
              <a:round/>
              <a:tailEnd w="sm" len="sm" type="stealth"/>
            </a:ln>
          </p:spPr>
        </p:sp>
        <p:sp>
          <p:nvSpPr>
            <p:cNvPr id="141" name="MMConnector"/>
            <p:cNvSpPr/>
            <p:nvPr/>
          </p:nvSpPr>
          <p:spPr>
            <a:xfrm>
              <a:off y="3320167" x="4575613"/>
              <a:ext cy="477500" cx="648000"/>
            </a:xfrm>
            <a:custGeom>
              <a:avLst/>
              <a:gdLst/>
              <a:pathLst>
                <a:path w="648000" h="477500" fill="none">
                  <a:moveTo>
                    <a:pt y="238750" x="-324000"/>
                  </a:moveTo>
                  <a:lnTo>
                    <a:pt y="238750" x="-159000"/>
                  </a:lnTo>
                  <a:cubicBezTo>
                    <a:pt y="-238750" x="85080"/>
                    <a:pt y="-238750" x="85080"/>
                    <a:pt y="-238750" x="324000"/>
                  </a:cubicBezTo>
                </a:path>
              </a:pathLst>
            </a:custGeom>
            <a:noFill/>
            <a:ln cap="rnd" w="15000">
              <a:solidFill>
                <a:srgbClr val="454545"/>
              </a:solidFill>
              <a:round/>
              <a:tailEnd w="sm" len="sm" type="stealth"/>
            </a:ln>
          </p:spPr>
        </p:sp>
        <p:sp>
          <p:nvSpPr>
            <p:cNvPr id="145" name="MMConnector"/>
            <p:cNvSpPr/>
            <p:nvPr/>
          </p:nvSpPr>
          <p:spPr>
            <a:xfrm>
              <a:off y="3797667" x="4575613"/>
              <a:ext cy="477500" cx="483000"/>
            </a:xfrm>
            <a:custGeom>
              <a:avLst/>
              <a:gdLst/>
              <a:pathLst>
                <a:path w="483000" h="477500" fill="none">
                  <a:moveTo>
                    <a:pt y="-238750" x="-159000"/>
                  </a:moveTo>
                  <a:cubicBezTo>
                    <a:pt y="238750" x="85080"/>
                    <a:pt y="238750" x="85080"/>
                    <a:pt y="238750" x="324000"/>
                  </a:cubicBezTo>
                </a:path>
              </a:pathLst>
            </a:custGeom>
            <a:noFill/>
            <a:ln cap="rnd" w="15000">
              <a:solidFill>
                <a:srgbClr val="454545"/>
              </a:solidFill>
              <a:round/>
              <a:tailEnd w="sm" len="sm" type="stealth"/>
            </a:ln>
          </p:spPr>
        </p:sp>
        <p:sp>
          <p:nvSpPr>
            <p:cNvPr id="147" name="MMConnector"/>
            <p:cNvSpPr/>
            <p:nvPr/>
          </p:nvSpPr>
          <p:spPr>
            <a:xfrm>
              <a:off y="3797667" x="6439413"/>
              <a:ext cy="477500" cx="648000"/>
            </a:xfrm>
            <a:custGeom>
              <a:avLst/>
              <a:gdLst/>
              <a:pathLst>
                <a:path w="648000" h="477500" fill="none">
                  <a:moveTo>
                    <a:pt y="238750" x="-324000"/>
                  </a:moveTo>
                  <a:lnTo>
                    <a:pt y="238750" x="-159000"/>
                  </a:lnTo>
                  <a:cubicBezTo>
                    <a:pt y="-238750" x="85080"/>
                    <a:pt y="-238750" x="85080"/>
                    <a:pt y="-238750" x="324000"/>
                  </a:cubicBezTo>
                </a:path>
              </a:pathLst>
            </a:custGeom>
            <a:noFill/>
            <a:ln cap="rnd" w="15000">
              <a:solidFill>
                <a:srgbClr val="454545"/>
              </a:solidFill>
              <a:round/>
              <a:tailEnd w="sm" len="sm" type="stealth"/>
            </a:ln>
          </p:spPr>
        </p:sp>
        <p:sp>
          <p:nvSpPr>
            <p:cNvPr id="151" name="MMConnector"/>
            <p:cNvSpPr/>
            <p:nvPr/>
          </p:nvSpPr>
          <p:spPr>
            <a:xfrm>
              <a:off y="4036417" x="6439413"/>
              <a:ext cy="15000" cx="483000"/>
            </a:xfrm>
            <a:custGeom>
              <a:avLst/>
              <a:gdLst/>
              <a:pathLst>
                <a:path w="483000" h="15000" fill="none">
                  <a:moveTo>
                    <a:pt y="0" x="-159000"/>
                  </a:moveTo>
                  <a:cubicBezTo>
                    <a:pt y="0" x="85080"/>
                    <a:pt y="0" x="85080"/>
                    <a:pt y="0" x="324000"/>
                  </a:cubicBezTo>
                </a:path>
              </a:pathLst>
            </a:custGeom>
            <a:noFill/>
            <a:ln cap="rnd" w="15000">
              <a:solidFill>
                <a:srgbClr val="454545"/>
              </a:solidFill>
              <a:round/>
              <a:tailEnd w="sm" len="sm" type="stealth"/>
            </a:ln>
          </p:spPr>
        </p:sp>
        <p:sp>
          <p:nvSpPr>
            <p:cNvPr id="153" name="MMConnector"/>
            <p:cNvSpPr/>
            <p:nvPr/>
          </p:nvSpPr>
          <p:spPr>
            <a:xfrm>
              <a:off y="4275167" x="6439413"/>
              <a:ext cy="477500" cx="483000"/>
            </a:xfrm>
            <a:custGeom>
              <a:avLst/>
              <a:gdLst/>
              <a:pathLst>
                <a:path w="483000" h="477500" fill="none">
                  <a:moveTo>
                    <a:pt y="-238750" x="-159000"/>
                  </a:moveTo>
                  <a:cubicBezTo>
                    <a:pt y="238750" x="85080"/>
                    <a:pt y="238750" x="85080"/>
                    <a:pt y="238750" x="324000"/>
                  </a:cubicBezTo>
                </a:path>
              </a:pathLst>
            </a:custGeom>
            <a:noFill/>
            <a:ln cap="rnd" w="15000">
              <a:solidFill>
                <a:srgbClr val="454545"/>
              </a:solidFill>
              <a:round/>
              <a:tailEnd w="sm" len="sm" type="stealth"/>
            </a:ln>
          </p:spPr>
        </p:sp>
        <p:sp>
          <p:nvSpPr>
            <p:cNvPr id="106" name="SubTopic"/>
            <p:cNvSpPr/>
            <p:nvPr/>
          </p:nvSpPr>
          <p:spPr>
            <a:xfrm>
              <a:off y="4085167" x="372013"/>
              <a:ext cy="380000" cx="1215800"/>
            </a:xfrm>
            <a:custGeom>
              <a:avLst/>
              <a:gdLst>
                <a:gd fmla="*/ 63100 w 1215800" name="rtl"/>
                <a:gd fmla="*/ 57000 h 380000" name="rtt"/>
                <a:gd fmla="*/ 923100 w 1215800" name="rtr"/>
                <a:gd fmla="*/ 317000 h 380000" name="rtb"/>
              </a:gdLst>
              <a:ahLst/>
              <a:cxnLst/>
              <a:rect t="rtt" l="rtl" b="rtb" r="rtr"/>
              <a:pathLst>
                <a:path w="1215800" h="380000">
                  <a:moveTo>
                    <a:pt y="0" x="0"/>
                  </a:moveTo>
                  <a:lnTo>
                    <a:pt y="0" x="949800"/>
                  </a:lnTo>
                  <a:lnTo>
                    <a:pt y="190000" x="1215800"/>
                  </a:lnTo>
                  <a:lnTo>
                    <a:pt y="378843" x="949800"/>
                  </a:lnTo>
                  <a:lnTo>
                    <a:pt y="380000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FFFFFF"/>
            </a:solidFill>
            <a:ln cap="flat" w="15000">
              <a:solidFill>
                <a:srgbClr val="454545"/>
              </a:solidFill>
              <a:round/>
            </a:ln>
          </p:spPr>
          <p:txBody>
            <a:bodyPr rIns="0" lIns="0" bIns="11000" rtlCol="0" anchor="ctr" wrap="none" tIns="0"/>
            <a:lstStyle/>
            <a:p>
              <a:pPr algn="ctr">
                <a:lnSpc>
                  <a:spcPct val="100000"/>
                </a:lnSpc>
              </a:pPr>
              <a:r>
                <a:rPr sz="1500">
                  <a:solidFill>
                    <a:srgbClr val="303030"/>
                  </a:solidFill>
                  <a:latin typeface="STKaiti"/>
                </a:rPr>
                <a:t>中美衝突</a:t>
              </a:r>
            </a:p>
          </p:txBody>
        </p:sp>
        <p:sp>
          <p:nvSpPr>
            <p:cNvPr id="132" name="SubTopic"/>
            <p:cNvSpPr/>
            <p:nvPr/>
          </p:nvSpPr>
          <p:spPr>
            <a:xfrm>
              <a:off y="4801417" x="2235813"/>
              <a:ext cy="380000" cx="1415800"/>
            </a:xfrm>
            <a:custGeom>
              <a:avLst/>
              <a:gdLst>
                <a:gd fmla="*/ 63100 w 1415800" name="rtl"/>
                <a:gd fmla="*/ 57000 h 380000" name="rtt"/>
                <a:gd fmla="*/ 1123100 w 1415800" name="rtr"/>
                <a:gd fmla="*/ 317000 h 380000" name="rtb"/>
              </a:gdLst>
              <a:ahLst/>
              <a:cxnLst/>
              <a:rect t="rtt" l="rtl" b="rtb" r="rtr"/>
              <a:pathLst>
                <a:path w="1415800" h="380000">
                  <a:moveTo>
                    <a:pt y="0" x="0"/>
                  </a:moveTo>
                  <a:lnTo>
                    <a:pt y="0" x="1149800"/>
                  </a:lnTo>
                  <a:lnTo>
                    <a:pt y="190000" x="1415800"/>
                  </a:lnTo>
                  <a:lnTo>
                    <a:pt y="378843" x="1149800"/>
                  </a:lnTo>
                  <a:lnTo>
                    <a:pt y="380000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FFFFFF"/>
            </a:solidFill>
            <a:ln cap="flat" w="15000">
              <a:solidFill>
                <a:srgbClr val="000000"/>
              </a:solidFill>
              <a:round/>
            </a:ln>
          </p:spPr>
          <p:txBody>
            <a:bodyPr rIns="0" lIns="0" bIns="11000" rtlCol="0" anchor="ctr" wrap="none" tIns="0"/>
            <a:lstStyle/>
            <a:p>
              <a:pPr algn="ctr">
                <a:lnSpc>
                  <a:spcPct val="100000"/>
                </a:lnSpc>
              </a:pPr>
              <a:r>
                <a:rPr sz="1500">
                  <a:solidFill>
                    <a:srgbClr val="303030"/>
                  </a:solidFill>
                  <a:latin typeface="STKaiti"/>
                </a:rPr>
                <a:t>中美科技戰</a:t>
              </a:r>
            </a:p>
          </p:txBody>
        </p:sp>
        <p:sp>
          <p:nvSpPr>
            <p:cNvPr id="134" name="SubTopic"/>
            <p:cNvSpPr/>
            <p:nvPr/>
          </p:nvSpPr>
          <p:spPr>
            <a:xfrm>
              <a:off y="4801417" x="4299613"/>
              <a:ext cy="380000" cx="1615800"/>
            </a:xfrm>
            <a:custGeom>
              <a:avLst/>
              <a:gdLst>
                <a:gd fmla="*/ 63100 w 1615800" name="rtl"/>
                <a:gd fmla="*/ 57000 h 380000" name="rtt"/>
                <a:gd fmla="*/ 1323100 w 1615800" name="rtr"/>
                <a:gd fmla="*/ 317000 h 380000" name="rtb"/>
              </a:gdLst>
              <a:ahLst/>
              <a:cxnLst/>
              <a:rect t="rtt" l="rtl" b="rtb" r="rtr"/>
              <a:pathLst>
                <a:path w="1615800" h="380000">
                  <a:moveTo>
                    <a:pt y="0" x="0"/>
                  </a:moveTo>
                  <a:lnTo>
                    <a:pt y="0" x="1349800"/>
                  </a:lnTo>
                  <a:lnTo>
                    <a:pt y="190000" x="1615800"/>
                  </a:lnTo>
                  <a:lnTo>
                    <a:pt y="378843" x="1349800"/>
                  </a:lnTo>
                  <a:lnTo>
                    <a:pt y="380000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FFFFFF"/>
            </a:solidFill>
            <a:ln cap="flat" w="15000">
              <a:solidFill>
                <a:srgbClr val="000000"/>
              </a:solidFill>
              <a:round/>
            </a:ln>
          </p:spPr>
          <p:txBody>
            <a:bodyPr rIns="0" lIns="0" bIns="11000" rtlCol="0" anchor="ctr" wrap="none" tIns="0"/>
            <a:lstStyle/>
            <a:p>
              <a:pPr algn="ctr">
                <a:lnSpc>
                  <a:spcPct val="100000"/>
                </a:lnSpc>
              </a:pPr>
              <a:r>
                <a:rPr sz="1500">
                  <a:solidFill>
                    <a:srgbClr val="303030"/>
                  </a:solidFill>
                  <a:latin typeface="STKaiti"/>
                </a:rPr>
                <a:t>美國華為禁令</a:t>
              </a:r>
            </a:p>
          </p:txBody>
        </p:sp>
        <p:sp>
          <p:nvSpPr>
            <p:cNvPr id="136" name="SubTopic"/>
            <p:cNvSpPr/>
            <p:nvPr/>
          </p:nvSpPr>
          <p:spPr>
            <a:xfrm>
              <a:off y="4801417" x="6563413"/>
              <a:ext cy="380000" cx="1855800"/>
            </a:xfrm>
            <a:custGeom>
              <a:avLst/>
              <a:gdLst>
                <a:gd fmla="*/ 63100 w 1855800" name="rtl"/>
                <a:gd fmla="*/ 57000 h 380000" name="rtt"/>
                <a:gd fmla="*/ 1563100 w 1855800" name="rtr"/>
                <a:gd fmla="*/ 317000 h 380000" name="rtb"/>
              </a:gdLst>
              <a:ahLst/>
              <a:cxnLst/>
              <a:rect t="rtt" l="rtl" b="rtb" r="rtr"/>
              <a:pathLst>
                <a:path w="1855800" h="380000">
                  <a:moveTo>
                    <a:pt y="0" x="0"/>
                  </a:moveTo>
                  <a:lnTo>
                    <a:pt y="0" x="1589800"/>
                  </a:lnTo>
                  <a:lnTo>
                    <a:pt y="190000" x="1855800"/>
                  </a:lnTo>
                  <a:lnTo>
                    <a:pt y="378843" x="1589800"/>
                  </a:lnTo>
                  <a:lnTo>
                    <a:pt y="380000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FFFFFF"/>
            </a:solidFill>
            <a:ln cap="flat" w="15000">
              <a:solidFill>
                <a:srgbClr val="000000"/>
              </a:solidFill>
              <a:round/>
            </a:ln>
          </p:spPr>
          <p:txBody>
            <a:bodyPr rIns="0" lIns="0" bIns="11000" rtlCol="0" anchor="ctr" wrap="none" tIns="0"/>
            <a:lstStyle/>
            <a:p>
              <a:pPr algn="ctr">
                <a:lnSpc>
                  <a:spcPct val="100000"/>
                </a:lnSpc>
              </a:pPr>
              <a:r>
                <a:rPr sz="1500">
                  <a:solidFill>
                    <a:srgbClr val="303030"/>
                  </a:solidFill>
                  <a:latin typeface="STKaiti"/>
                </a:rPr>
                <a:t>美國華為5G禁令</a:t>
              </a:r>
            </a:p>
          </p:txBody>
        </p:sp>
        <p:sp>
          <p:nvSpPr>
            <p:cNvPr id="138" name="SubTopic"/>
            <p:cNvSpPr/>
            <p:nvPr/>
          </p:nvSpPr>
          <p:spPr>
            <a:xfrm>
              <a:off y="3368917" x="2235813"/>
              <a:ext cy="380000" cx="2015800"/>
            </a:xfrm>
            <a:custGeom>
              <a:avLst/>
              <a:gdLst>
                <a:gd fmla="*/ 63100 w 2015800" name="rtl"/>
                <a:gd fmla="*/ 57000 h 380000" name="rtt"/>
                <a:gd fmla="*/ 1723100 w 2015800" name="rtr"/>
                <a:gd fmla="*/ 317000 h 380000" name="rtb"/>
              </a:gdLst>
              <a:ahLst/>
              <a:cxnLst/>
              <a:rect t="rtt" l="rtl" b="rtb" r="rtr"/>
              <a:pathLst>
                <a:path w="2015800" h="380000">
                  <a:moveTo>
                    <a:pt y="0" x="0"/>
                  </a:moveTo>
                  <a:lnTo>
                    <a:pt y="0" x="1749800"/>
                  </a:lnTo>
                  <a:lnTo>
                    <a:pt y="190000" x="2015800"/>
                  </a:lnTo>
                  <a:lnTo>
                    <a:pt y="378843" x="1749800"/>
                  </a:lnTo>
                  <a:lnTo>
                    <a:pt y="380000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FFFFFF"/>
            </a:solidFill>
            <a:ln cap="flat" w="15000">
              <a:solidFill>
                <a:srgbClr val="000000"/>
              </a:solidFill>
              <a:round/>
            </a:ln>
          </p:spPr>
          <p:txBody>
            <a:bodyPr rIns="0" lIns="0" bIns="11000" rtlCol="0" anchor="ctr" wrap="none" tIns="0"/>
            <a:lstStyle/>
            <a:p>
              <a:pPr algn="ctr">
                <a:lnSpc>
                  <a:spcPct val="100000"/>
                </a:lnSpc>
              </a:pPr>
              <a:r>
                <a:rPr sz="1500">
                  <a:solidFill>
                    <a:srgbClr val="303030"/>
                  </a:solidFill>
                  <a:latin typeface="STKaiti"/>
                </a:rPr>
                <a:t>美國制中戰略框架</a:t>
              </a:r>
            </a:p>
          </p:txBody>
        </p:sp>
        <p:sp>
          <p:nvSpPr>
            <p:cNvPr id="140" name="SubTopic"/>
            <p:cNvSpPr/>
            <p:nvPr/>
          </p:nvSpPr>
          <p:spPr>
            <a:xfrm>
              <a:off y="2891417" x="4899613"/>
              <a:ext cy="380000" cx="1415800"/>
            </a:xfrm>
            <a:custGeom>
              <a:avLst/>
              <a:gdLst>
                <a:gd fmla="*/ 63100 w 1415800" name="rtl"/>
                <a:gd fmla="*/ 57000 h 380000" name="rtt"/>
                <a:gd fmla="*/ 1123100 w 1415800" name="rtr"/>
                <a:gd fmla="*/ 317000 h 380000" name="rtb"/>
              </a:gdLst>
              <a:ahLst/>
              <a:cxnLst/>
              <a:rect t="rtt" l="rtl" b="rtb" r="rtr"/>
              <a:pathLst>
                <a:path w="1415800" h="380000">
                  <a:moveTo>
                    <a:pt y="0" x="0"/>
                  </a:moveTo>
                  <a:lnTo>
                    <a:pt y="0" x="1149800"/>
                  </a:lnTo>
                  <a:lnTo>
                    <a:pt y="190000" x="1415800"/>
                  </a:lnTo>
                  <a:lnTo>
                    <a:pt y="378843" x="1149800"/>
                  </a:lnTo>
                  <a:lnTo>
                    <a:pt y="380000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FFFFFF"/>
            </a:solidFill>
            <a:ln cap="flat" w="15000">
              <a:solidFill>
                <a:srgbClr val="000000"/>
              </a:solidFill>
              <a:round/>
            </a:ln>
          </p:spPr>
          <p:txBody>
            <a:bodyPr rIns="0" lIns="0" bIns="11000" rtlCol="0" anchor="ctr" wrap="none" tIns="0"/>
            <a:lstStyle/>
            <a:p>
              <a:pPr algn="ctr">
                <a:lnSpc>
                  <a:spcPct val="100000"/>
                </a:lnSpc>
              </a:pPr>
              <a:r>
                <a:rPr sz="1500">
                  <a:solidFill>
                    <a:srgbClr val="303030"/>
                  </a:solidFill>
                  <a:latin typeface="STKaiti"/>
                </a:rPr>
                <a:t>亞太再平衡</a:t>
              </a:r>
            </a:p>
          </p:txBody>
        </p:sp>
        <p:sp>
          <p:nvSpPr>
            <p:cNvPr id="144" name="SubTopic"/>
            <p:cNvSpPr/>
            <p:nvPr/>
          </p:nvSpPr>
          <p:spPr>
            <a:xfrm>
              <a:off y="3846417" x="4899613"/>
              <a:ext cy="380000" cx="1215800"/>
            </a:xfrm>
            <a:custGeom>
              <a:avLst/>
              <a:gdLst>
                <a:gd fmla="*/ 63100 w 1215800" name="rtl"/>
                <a:gd fmla="*/ 57000 h 380000" name="rtt"/>
                <a:gd fmla="*/ 923100 w 1215800" name="rtr"/>
                <a:gd fmla="*/ 317000 h 380000" name="rtb"/>
              </a:gdLst>
              <a:ahLst/>
              <a:cxnLst/>
              <a:rect t="rtt" l="rtl" b="rtb" r="rtr"/>
              <a:pathLst>
                <a:path w="1215800" h="380000">
                  <a:moveTo>
                    <a:pt y="0" x="0"/>
                  </a:moveTo>
                  <a:lnTo>
                    <a:pt y="0" x="949800"/>
                  </a:lnTo>
                  <a:lnTo>
                    <a:pt y="190000" x="1215800"/>
                  </a:lnTo>
                  <a:lnTo>
                    <a:pt y="378843" x="949800"/>
                  </a:lnTo>
                  <a:lnTo>
                    <a:pt y="380000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FFFFFF"/>
            </a:solidFill>
            <a:ln cap="flat" w="15000">
              <a:solidFill>
                <a:srgbClr val="000000"/>
              </a:solidFill>
              <a:round/>
            </a:ln>
          </p:spPr>
          <p:txBody>
            <a:bodyPr rIns="0" lIns="0" bIns="11000" rtlCol="0" anchor="ctr" wrap="none" tIns="0"/>
            <a:lstStyle/>
            <a:p>
              <a:pPr algn="ctr">
                <a:lnSpc>
                  <a:spcPct val="100000"/>
                </a:lnSpc>
              </a:pPr>
              <a:r>
                <a:rPr sz="1500">
                  <a:solidFill>
                    <a:srgbClr val="303030"/>
                  </a:solidFill>
                  <a:latin typeface="STKaiti"/>
                </a:rPr>
                <a:t>印太框架</a:t>
              </a:r>
            </a:p>
          </p:txBody>
        </p:sp>
        <p:sp>
          <p:nvSpPr>
            <p:cNvPr id="146" name="SubTopic"/>
            <p:cNvSpPr/>
            <p:nvPr/>
          </p:nvSpPr>
          <p:spPr>
            <a:xfrm>
              <a:off y="3368917" x="6763413"/>
              <a:ext cy="380000" cx="2015800"/>
            </a:xfrm>
            <a:custGeom>
              <a:avLst/>
              <a:gdLst>
                <a:gd fmla="*/ 63100 w 2015800" name="rtl"/>
                <a:gd fmla="*/ 57000 h 380000" name="rtt"/>
                <a:gd fmla="*/ 1723100 w 2015800" name="rtr"/>
                <a:gd fmla="*/ 317000 h 380000" name="rtb"/>
              </a:gdLst>
              <a:ahLst/>
              <a:cxnLst/>
              <a:rect t="rtt" l="rtl" b="rtb" r="rtr"/>
              <a:pathLst>
                <a:path w="2015800" h="380000">
                  <a:moveTo>
                    <a:pt y="0" x="0"/>
                  </a:moveTo>
                  <a:lnTo>
                    <a:pt y="0" x="1749800"/>
                  </a:lnTo>
                  <a:lnTo>
                    <a:pt y="190000" x="2015800"/>
                  </a:lnTo>
                  <a:lnTo>
                    <a:pt y="378843" x="1749800"/>
                  </a:lnTo>
                  <a:lnTo>
                    <a:pt y="380000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FFFFFF"/>
            </a:solidFill>
            <a:ln cap="flat" w="15000">
              <a:solidFill>
                <a:srgbClr val="000000"/>
              </a:solidFill>
              <a:round/>
            </a:ln>
          </p:spPr>
          <p:txBody>
            <a:bodyPr rIns="0" lIns="0" bIns="11000" rtlCol="0" anchor="ctr" wrap="none" tIns="0"/>
            <a:lstStyle/>
            <a:p>
              <a:pPr algn="ctr">
                <a:lnSpc>
                  <a:spcPct val="100000"/>
                </a:lnSpc>
              </a:pPr>
              <a:r>
                <a:rPr sz="1500">
                  <a:solidFill>
                    <a:srgbClr val="303030"/>
                  </a:solidFill>
                  <a:latin typeface="STKaiti"/>
                </a:rPr>
                <a:t>印太框架日本作為</a:t>
              </a:r>
            </a:p>
          </p:txBody>
        </p:sp>
        <p:sp>
          <p:nvSpPr>
            <p:cNvPr id="150" name="SubTopic"/>
            <p:cNvSpPr/>
            <p:nvPr/>
          </p:nvSpPr>
          <p:spPr>
            <a:xfrm>
              <a:off y="3846417" x="6763413"/>
              <a:ext cy="380000" cx="1215800"/>
            </a:xfrm>
            <a:custGeom>
              <a:avLst/>
              <a:gdLst>
                <a:gd fmla="*/ 63100 w 1215800" name="rtl"/>
                <a:gd fmla="*/ 57000 h 380000" name="rtt"/>
                <a:gd fmla="*/ 923100 w 1215800" name="rtr"/>
                <a:gd fmla="*/ 317000 h 380000" name="rtb"/>
              </a:gdLst>
              <a:ahLst/>
              <a:cxnLst/>
              <a:rect t="rtt" l="rtl" b="rtb" r="rtr"/>
              <a:pathLst>
                <a:path w="1215800" h="380000">
                  <a:moveTo>
                    <a:pt y="0" x="0"/>
                  </a:moveTo>
                  <a:lnTo>
                    <a:pt y="0" x="949800"/>
                  </a:lnTo>
                  <a:lnTo>
                    <a:pt y="190000" x="1215800"/>
                  </a:lnTo>
                  <a:lnTo>
                    <a:pt y="378843" x="949800"/>
                  </a:lnTo>
                  <a:lnTo>
                    <a:pt y="380000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FFFFFF"/>
            </a:solidFill>
            <a:ln cap="flat" w="15000">
              <a:solidFill>
                <a:srgbClr val="000000"/>
              </a:solidFill>
              <a:round/>
            </a:ln>
          </p:spPr>
          <p:txBody>
            <a:bodyPr rIns="0" lIns="0" bIns="11000" rtlCol="0" anchor="ctr" wrap="none" tIns="0"/>
            <a:lstStyle/>
            <a:p>
              <a:pPr algn="ctr">
                <a:lnSpc>
                  <a:spcPct val="100000"/>
                </a:lnSpc>
              </a:pPr>
              <a:r>
                <a:rPr sz="1500">
                  <a:solidFill>
                    <a:srgbClr val="303030"/>
                  </a:solidFill>
                  <a:latin typeface="STKaiti"/>
                </a:rPr>
                <a:t>四方會談</a:t>
              </a:r>
            </a:p>
          </p:txBody>
        </p:sp>
        <p:sp>
          <p:nvSpPr>
            <p:cNvPr id="152" name="SubTopic"/>
            <p:cNvSpPr/>
            <p:nvPr/>
          </p:nvSpPr>
          <p:spPr>
            <a:xfrm>
              <a:off y="4323917" x="6763413"/>
              <a:ext cy="380000" cx="1415800"/>
            </a:xfrm>
            <a:custGeom>
              <a:avLst/>
              <a:gdLst>
                <a:gd fmla="*/ 63100 w 1415800" name="rtl"/>
                <a:gd fmla="*/ 57000 h 380000" name="rtt"/>
                <a:gd fmla="*/ 1123100 w 1415800" name="rtr"/>
                <a:gd fmla="*/ 317000 h 380000" name="rtb"/>
              </a:gdLst>
              <a:ahLst/>
              <a:cxnLst/>
              <a:rect t="rtt" l="rtl" b="rtb" r="rtr"/>
              <a:pathLst>
                <a:path w="1415800" h="380000">
                  <a:moveTo>
                    <a:pt y="0" x="0"/>
                  </a:moveTo>
                  <a:lnTo>
                    <a:pt y="0" x="1149800"/>
                  </a:lnTo>
                  <a:lnTo>
                    <a:pt y="190000" x="1415800"/>
                  </a:lnTo>
                  <a:lnTo>
                    <a:pt y="378843" x="1149800"/>
                  </a:lnTo>
                  <a:lnTo>
                    <a:pt y="380000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FFFFFF"/>
            </a:solidFill>
            <a:ln cap="flat" w="15000">
              <a:solidFill>
                <a:srgbClr val="000000"/>
              </a:solidFill>
              <a:round/>
            </a:ln>
          </p:spPr>
          <p:txBody>
            <a:bodyPr rIns="0" lIns="0" bIns="11000" rtlCol="0" anchor="ctr" wrap="none" tIns="0"/>
            <a:lstStyle/>
            <a:p>
              <a:pPr algn="ctr">
                <a:lnSpc>
                  <a:spcPct val="100000"/>
                </a:lnSpc>
              </a:pPr>
              <a:r>
                <a:rPr sz="1500">
                  <a:solidFill>
                    <a:srgbClr val="303030"/>
                  </a:solidFill>
                  <a:latin typeface="STKaiti"/>
                </a:rPr>
                <a:t>英美澳聯盟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000100" name="頁面-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grpSp>
        <p:nvGrpSpPr>
          <p:cNvPr id="172" name="Group172"/>
          <p:cNvGrpSpPr/>
          <p:nvPr/>
        </p:nvGrpSpPr>
        <p:grpSpPr>
          <a:xfrm>
            <a:off y="2246358" x="352744"/>
            <a:ext cy="2370683" cx="8457775"/>
            <a:chOff y="2246358" x="352744"/>
            <a:chExt cy="2370683" cx="8457775"/>
          </a:xfrm>
        </p:grpSpPr>
        <p:sp>
          <p:nvSpPr>
            <p:cNvPr id="141" name="MMConnector"/>
            <p:cNvSpPr/>
            <p:nvPr/>
          </p:nvSpPr>
          <p:spPr>
            <a:xfrm>
              <a:off y="3425219" x="3382587"/>
              <a:ext cy="614383" cx="833760"/>
            </a:xfrm>
            <a:custGeom>
              <a:avLst/>
              <a:gdLst/>
              <a:pathLst>
                <a:path w="833760" h="614383" fill="none">
                  <a:moveTo>
                    <a:pt y="307192" x="-416880"/>
                  </a:moveTo>
                  <a:lnTo>
                    <a:pt y="307192" x="-204580"/>
                  </a:lnTo>
                  <a:cubicBezTo>
                    <a:pt y="-307192" x="109470"/>
                    <a:pt y="-307192" x="109470"/>
                    <a:pt y="-307192" x="416880"/>
                  </a:cubicBezTo>
                </a:path>
              </a:pathLst>
            </a:custGeom>
            <a:noFill/>
            <a:ln cap="rnd" w="19300">
              <a:solidFill>
                <a:srgbClr val="454545"/>
              </a:solidFill>
              <a:round/>
              <a:tailEnd w="sm" len="sm" type="stealth"/>
            </a:ln>
          </p:spPr>
        </p:sp>
        <p:sp>
          <p:nvSpPr>
            <p:cNvPr id="145" name="MMConnector"/>
            <p:cNvSpPr/>
            <p:nvPr/>
          </p:nvSpPr>
          <p:spPr>
            <a:xfrm>
              <a:off y="4039602" x="3382587"/>
              <a:ext cy="614383" cx="621460"/>
            </a:xfrm>
            <a:custGeom>
              <a:avLst/>
              <a:gdLst/>
              <a:pathLst>
                <a:path w="621460" h="614383" fill="none">
                  <a:moveTo>
                    <a:pt y="-307192" x="-204580"/>
                  </a:moveTo>
                  <a:cubicBezTo>
                    <a:pt y="307192" x="109470"/>
                    <a:pt y="307192" x="109470"/>
                    <a:pt y="307192" x="416880"/>
                  </a:cubicBezTo>
                </a:path>
              </a:pathLst>
            </a:custGeom>
            <a:noFill/>
            <a:ln cap="rnd" w="19300">
              <a:solidFill>
                <a:srgbClr val="454545"/>
              </a:solidFill>
              <a:round/>
              <a:tailEnd w="sm" len="sm" type="stealth"/>
            </a:ln>
          </p:spPr>
        </p:sp>
        <p:sp>
          <p:nvSpPr>
            <p:cNvPr id="147" name="MMConnector"/>
            <p:cNvSpPr/>
            <p:nvPr/>
          </p:nvSpPr>
          <p:spPr>
            <a:xfrm>
              <a:off y="4039602" x="5780676"/>
              <a:ext cy="614383" cx="833760"/>
            </a:xfrm>
            <a:custGeom>
              <a:avLst/>
              <a:gdLst/>
              <a:pathLst>
                <a:path w="833760" h="614383" fill="none">
                  <a:moveTo>
                    <a:pt y="307192" x="-416880"/>
                  </a:moveTo>
                  <a:lnTo>
                    <a:pt y="307192" x="-204580"/>
                  </a:lnTo>
                  <a:cubicBezTo>
                    <a:pt y="-307192" x="109470"/>
                    <a:pt y="-307192" x="109470"/>
                    <a:pt y="-307192" x="416880"/>
                  </a:cubicBezTo>
                </a:path>
              </a:pathLst>
            </a:custGeom>
            <a:noFill/>
            <a:ln cap="rnd" w="19300">
              <a:solidFill>
                <a:srgbClr val="454545"/>
              </a:solidFill>
              <a:round/>
              <a:tailEnd w="sm" len="sm" type="stealth"/>
            </a:ln>
          </p:spPr>
        </p:sp>
        <p:sp>
          <p:nvSpPr>
            <p:cNvPr id="151" name="MMConnector"/>
            <p:cNvSpPr/>
            <p:nvPr/>
          </p:nvSpPr>
          <p:spPr>
            <a:xfrm>
              <a:off y="4346794" x="5780676"/>
              <a:ext cy="19300" cx="621460"/>
            </a:xfrm>
            <a:custGeom>
              <a:avLst/>
              <a:gdLst/>
              <a:pathLst>
                <a:path w="621460" h="19300" fill="none">
                  <a:moveTo>
                    <a:pt y="0" x="-204580"/>
                  </a:moveTo>
                  <a:cubicBezTo>
                    <a:pt y="0" x="109470"/>
                    <a:pt y="0" x="109470"/>
                    <a:pt y="0" x="416880"/>
                  </a:cubicBezTo>
                </a:path>
              </a:pathLst>
            </a:custGeom>
            <a:noFill/>
            <a:ln cap="rnd" w="19300">
              <a:solidFill>
                <a:srgbClr val="454545"/>
              </a:solidFill>
              <a:round/>
              <a:tailEnd w="sm" len="sm" type="stealth"/>
            </a:ln>
          </p:spPr>
        </p:sp>
        <p:sp>
          <p:nvSpPr>
            <p:cNvPr id="153" name="MMConnector"/>
            <p:cNvSpPr/>
            <p:nvPr/>
          </p:nvSpPr>
          <p:spPr>
            <a:xfrm>
              <a:off y="4653986" x="5780676"/>
              <a:ext cy="614383" cx="621460"/>
            </a:xfrm>
            <a:custGeom>
              <a:avLst/>
              <a:gdLst/>
              <a:pathLst>
                <a:path w="621460" h="614383" fill="none">
                  <a:moveTo>
                    <a:pt y="-307192" x="-204580"/>
                  </a:moveTo>
                  <a:cubicBezTo>
                    <a:pt y="307192" x="109470"/>
                    <a:pt y="307192" x="109470"/>
                    <a:pt y="307192" x="416880"/>
                  </a:cubicBezTo>
                </a:path>
              </a:pathLst>
            </a:custGeom>
            <a:noFill/>
            <a:ln cap="rnd" w="19300">
              <a:solidFill>
                <a:srgbClr val="454545"/>
              </a:solidFill>
              <a:round/>
              <a:tailEnd w="sm" len="sm" type="stealth"/>
            </a:ln>
          </p:spPr>
        </p:sp>
        <p:sp>
          <p:nvSpPr>
            <p:cNvPr id="138" name="SubTopic"/>
            <p:cNvSpPr/>
            <p:nvPr/>
          </p:nvSpPr>
          <p:spPr>
            <a:xfrm>
              <a:off y="3487944" x="372044"/>
              <a:ext cy="488933" cx="2593663"/>
            </a:xfrm>
            <a:custGeom>
              <a:avLst/>
              <a:gdLst>
                <a:gd fmla="*/ 81189 w 2593663" name="rtl"/>
                <a:gd fmla="*/ 73340 h 488933" name="rtt"/>
                <a:gd fmla="*/ 2217055 w 2593663" name="rtr"/>
                <a:gd fmla="*/ 407873 h 488933" name="rtb"/>
              </a:gdLst>
              <a:ahLst/>
              <a:cxnLst/>
              <a:rect t="rtt" l="rtl" b="rtb" r="rtr"/>
              <a:pathLst>
                <a:path w="2593663" h="488933">
                  <a:moveTo>
                    <a:pt y="0" x="0"/>
                  </a:moveTo>
                  <a:lnTo>
                    <a:pt y="0" x="2251409"/>
                  </a:lnTo>
                  <a:lnTo>
                    <a:pt y="244467" x="2593663"/>
                  </a:lnTo>
                  <a:lnTo>
                    <a:pt y="487445" x="2251409"/>
                  </a:lnTo>
                  <a:lnTo>
                    <a:pt y="48893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FFFFFF"/>
            </a:solidFill>
            <a:ln cap="flat" w="19300">
              <a:solidFill>
                <a:srgbClr val="000000"/>
              </a:solidFill>
              <a:round/>
            </a:ln>
          </p:spPr>
          <p:txBody>
            <a:bodyPr rIns="0" lIns="0" bIns="11000" rtlCol="0" anchor="ctr" wrap="none" tIns="0"/>
            <a:lstStyle/>
            <a:p>
              <a:pPr algn="ctr">
                <a:lnSpc>
                  <a:spcPct val="100000"/>
                </a:lnSpc>
              </a:pPr>
              <a:r>
                <a:rPr sz="1930">
                  <a:solidFill>
                    <a:srgbClr val="303030"/>
                  </a:solidFill>
                  <a:latin typeface="STKaiti"/>
                </a:rPr>
                <a:t>美國制中戰略框架</a:t>
              </a:r>
            </a:p>
          </p:txBody>
        </p:sp>
        <p:sp>
          <p:nvSpPr>
            <p:cNvPr id="140" name="SubTopic"/>
            <p:cNvSpPr/>
            <p:nvPr/>
          </p:nvSpPr>
          <p:spPr>
            <a:xfrm>
              <a:off y="2873561" x="3799467"/>
              <a:ext cy="488933" cx="1821663"/>
            </a:xfrm>
            <a:custGeom>
              <a:avLst/>
              <a:gdLst>
                <a:gd fmla="*/ 81189 w 1821663" name="rtl"/>
                <a:gd fmla="*/ 73340 h 488933" name="rtt"/>
                <a:gd fmla="*/ 1445055 w 1821663" name="rtr"/>
                <a:gd fmla="*/ 407873 h 488933" name="rtb"/>
              </a:gdLst>
              <a:ahLst/>
              <a:cxnLst/>
              <a:rect t="rtt" l="rtl" b="rtb" r="rtr"/>
              <a:pathLst>
                <a:path w="1821663" h="488933">
                  <a:moveTo>
                    <a:pt y="0" x="0"/>
                  </a:moveTo>
                  <a:lnTo>
                    <a:pt y="0" x="1479409"/>
                  </a:lnTo>
                  <a:lnTo>
                    <a:pt y="244467" x="1821663"/>
                  </a:lnTo>
                  <a:lnTo>
                    <a:pt y="487445" x="1479409"/>
                  </a:lnTo>
                  <a:lnTo>
                    <a:pt y="48893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FFFFFF"/>
            </a:solidFill>
            <a:ln cap="flat" w="19300">
              <a:solidFill>
                <a:srgbClr val="000000"/>
              </a:solidFill>
              <a:round/>
            </a:ln>
          </p:spPr>
          <p:txBody>
            <a:bodyPr rIns="0" lIns="0" bIns="11000" rtlCol="0" anchor="ctr" wrap="none" tIns="0"/>
            <a:lstStyle/>
            <a:p>
              <a:pPr algn="ctr">
                <a:lnSpc>
                  <a:spcPct val="100000"/>
                </a:lnSpc>
              </a:pPr>
              <a:r>
                <a:rPr sz="1930">
                  <a:solidFill>
                    <a:srgbClr val="303030"/>
                  </a:solidFill>
                  <a:latin typeface="STKaiti"/>
                </a:rPr>
                <a:t>亞太再平衡</a:t>
              </a:r>
            </a:p>
          </p:txBody>
        </p:sp>
        <p:sp>
          <p:nvSpPr>
            <p:cNvPr id="144" name="SubTopic"/>
            <p:cNvSpPr/>
            <p:nvPr/>
          </p:nvSpPr>
          <p:spPr>
            <a:xfrm>
              <a:off y="4102327" x="3799467"/>
              <a:ext cy="488933" cx="1564329"/>
            </a:xfrm>
            <a:custGeom>
              <a:avLst/>
              <a:gdLst>
                <a:gd fmla="*/ 81189 w 1564329" name="rtl"/>
                <a:gd fmla="*/ 73340 h 488933" name="rtt"/>
                <a:gd fmla="*/ 1187722 w 1564329" name="rtr"/>
                <a:gd fmla="*/ 407873 h 488933" name="rtb"/>
              </a:gdLst>
              <a:ahLst/>
              <a:cxnLst/>
              <a:rect t="rtt" l="rtl" b="rtb" r="rtr"/>
              <a:pathLst>
                <a:path w="1564329" h="488933">
                  <a:moveTo>
                    <a:pt y="0" x="0"/>
                  </a:moveTo>
                  <a:lnTo>
                    <a:pt y="0" x="1222076"/>
                  </a:lnTo>
                  <a:lnTo>
                    <a:pt y="244467" x="1564329"/>
                  </a:lnTo>
                  <a:lnTo>
                    <a:pt y="487445" x="1222076"/>
                  </a:lnTo>
                  <a:lnTo>
                    <a:pt y="48893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FFFFFF"/>
            </a:solidFill>
            <a:ln cap="flat" w="19300">
              <a:solidFill>
                <a:srgbClr val="000000"/>
              </a:solidFill>
              <a:round/>
            </a:ln>
          </p:spPr>
          <p:txBody>
            <a:bodyPr rIns="0" lIns="0" bIns="11000" rtlCol="0" anchor="ctr" wrap="none" tIns="0"/>
            <a:lstStyle/>
            <a:p>
              <a:pPr algn="ctr">
                <a:lnSpc>
                  <a:spcPct val="100000"/>
                </a:lnSpc>
              </a:pPr>
              <a:r>
                <a:rPr sz="1930">
                  <a:solidFill>
                    <a:srgbClr val="303030"/>
                  </a:solidFill>
                  <a:latin typeface="STKaiti"/>
                </a:rPr>
                <a:t>印太框架</a:t>
              </a:r>
            </a:p>
          </p:txBody>
        </p:sp>
        <p:sp>
          <p:nvSpPr>
            <p:cNvPr id="146" name="SubTopic"/>
            <p:cNvSpPr/>
            <p:nvPr/>
          </p:nvSpPr>
          <p:spPr>
            <a:xfrm>
              <a:off y="3487944" x="6197556"/>
              <a:ext cy="488933" cx="2593663"/>
            </a:xfrm>
            <a:custGeom>
              <a:avLst/>
              <a:gdLst>
                <a:gd fmla="*/ 81189 w 2593663" name="rtl"/>
                <a:gd fmla="*/ 73340 h 488933" name="rtt"/>
                <a:gd fmla="*/ 2217055 w 2593663" name="rtr"/>
                <a:gd fmla="*/ 407873 h 488933" name="rtb"/>
              </a:gdLst>
              <a:ahLst/>
              <a:cxnLst/>
              <a:rect t="rtt" l="rtl" b="rtb" r="rtr"/>
              <a:pathLst>
                <a:path w="2593663" h="488933">
                  <a:moveTo>
                    <a:pt y="0" x="0"/>
                  </a:moveTo>
                  <a:lnTo>
                    <a:pt y="0" x="2251409"/>
                  </a:lnTo>
                  <a:lnTo>
                    <a:pt y="244467" x="2593663"/>
                  </a:lnTo>
                  <a:lnTo>
                    <a:pt y="487445" x="2251409"/>
                  </a:lnTo>
                  <a:lnTo>
                    <a:pt y="48893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FFFFFF"/>
            </a:solidFill>
            <a:ln cap="flat" w="19300">
              <a:solidFill>
                <a:srgbClr val="000000"/>
              </a:solidFill>
              <a:round/>
            </a:ln>
          </p:spPr>
          <p:txBody>
            <a:bodyPr rIns="0" lIns="0" bIns="11000" rtlCol="0" anchor="ctr" wrap="none" tIns="0"/>
            <a:lstStyle/>
            <a:p>
              <a:pPr algn="ctr">
                <a:lnSpc>
                  <a:spcPct val="100000"/>
                </a:lnSpc>
              </a:pPr>
              <a:r>
                <a:rPr sz="1930">
                  <a:solidFill>
                    <a:srgbClr val="303030"/>
                  </a:solidFill>
                  <a:latin typeface="STKaiti"/>
                </a:rPr>
                <a:t>印太框架日本作為</a:t>
              </a:r>
            </a:p>
          </p:txBody>
        </p:sp>
        <p:sp>
          <p:nvSpPr>
            <p:cNvPr id="150" name="SubTopic"/>
            <p:cNvSpPr/>
            <p:nvPr/>
          </p:nvSpPr>
          <p:spPr>
            <a:xfrm>
              <a:off y="4102327" x="6197556"/>
              <a:ext cy="488933" cx="1564329"/>
            </a:xfrm>
            <a:custGeom>
              <a:avLst/>
              <a:gdLst>
                <a:gd fmla="*/ 81189 w 1564329" name="rtl"/>
                <a:gd fmla="*/ 73340 h 488933" name="rtt"/>
                <a:gd fmla="*/ 1187722 w 1564329" name="rtr"/>
                <a:gd fmla="*/ 407873 h 488933" name="rtb"/>
              </a:gdLst>
              <a:ahLst/>
              <a:cxnLst/>
              <a:rect t="rtt" l="rtl" b="rtb" r="rtr"/>
              <a:pathLst>
                <a:path w="1564329" h="488933">
                  <a:moveTo>
                    <a:pt y="0" x="0"/>
                  </a:moveTo>
                  <a:lnTo>
                    <a:pt y="0" x="1222076"/>
                  </a:lnTo>
                  <a:lnTo>
                    <a:pt y="244467" x="1564329"/>
                  </a:lnTo>
                  <a:lnTo>
                    <a:pt y="487445" x="1222076"/>
                  </a:lnTo>
                  <a:lnTo>
                    <a:pt y="48893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FFFFFF"/>
            </a:solidFill>
            <a:ln cap="flat" w="19300">
              <a:solidFill>
                <a:srgbClr val="000000"/>
              </a:solidFill>
              <a:round/>
            </a:ln>
          </p:spPr>
          <p:txBody>
            <a:bodyPr rIns="0" lIns="0" bIns="11000" rtlCol="0" anchor="ctr" wrap="none" tIns="0"/>
            <a:lstStyle/>
            <a:p>
              <a:pPr algn="ctr">
                <a:lnSpc>
                  <a:spcPct val="100000"/>
                </a:lnSpc>
              </a:pPr>
              <a:r>
                <a:rPr sz="1930">
                  <a:solidFill>
                    <a:srgbClr val="303030"/>
                  </a:solidFill>
                  <a:latin typeface="STKaiti"/>
                </a:rPr>
                <a:t>四方會談</a:t>
              </a:r>
            </a:p>
          </p:txBody>
        </p:sp>
        <p:sp>
          <p:nvSpPr>
            <p:cNvPr id="152" name="SubTopic"/>
            <p:cNvSpPr/>
            <p:nvPr/>
          </p:nvSpPr>
          <p:spPr>
            <a:xfrm>
              <a:off y="4716711" x="6197556"/>
              <a:ext cy="488933" cx="1821663"/>
            </a:xfrm>
            <a:custGeom>
              <a:avLst/>
              <a:gdLst>
                <a:gd fmla="*/ 81189 w 1821663" name="rtl"/>
                <a:gd fmla="*/ 73340 h 488933" name="rtt"/>
                <a:gd fmla="*/ 1445055 w 1821663" name="rtr"/>
                <a:gd fmla="*/ 407873 h 488933" name="rtb"/>
              </a:gdLst>
              <a:ahLst/>
              <a:cxnLst/>
              <a:rect t="rtt" l="rtl" b="rtb" r="rtr"/>
              <a:pathLst>
                <a:path w="1821663" h="488933">
                  <a:moveTo>
                    <a:pt y="0" x="0"/>
                  </a:moveTo>
                  <a:lnTo>
                    <a:pt y="0" x="1479409"/>
                  </a:lnTo>
                  <a:lnTo>
                    <a:pt y="244467" x="1821663"/>
                  </a:lnTo>
                  <a:lnTo>
                    <a:pt y="487445" x="1479409"/>
                  </a:lnTo>
                  <a:lnTo>
                    <a:pt y="48893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FFFFFF"/>
            </a:solidFill>
            <a:ln cap="flat" w="19300">
              <a:solidFill>
                <a:srgbClr val="000000"/>
              </a:solidFill>
              <a:round/>
            </a:ln>
          </p:spPr>
          <p:txBody>
            <a:bodyPr rIns="0" lIns="0" bIns="11000" rtlCol="0" anchor="ctr" wrap="none" tIns="0"/>
            <a:lstStyle/>
            <a:p>
              <a:pPr algn="ctr">
                <a:lnSpc>
                  <a:spcPct val="100000"/>
                </a:lnSpc>
              </a:pPr>
              <a:r>
                <a:rPr sz="1930">
                  <a:solidFill>
                    <a:srgbClr val="303030"/>
                  </a:solidFill>
                  <a:latin typeface="STKaiti"/>
                </a:rPr>
                <a:t>英美澳聯盟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000100" name="頁面-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grpSp>
        <p:nvGrpSpPr>
          <p:cNvPr id="173" name="Group173"/>
          <p:cNvGrpSpPr/>
          <p:nvPr/>
        </p:nvGrpSpPr>
        <p:grpSpPr>
          <a:xfrm>
            <a:off y="3142000" x="3699940"/>
            <a:ext cy="574000" cx="1744120"/>
            <a:chOff y="3142000" x="3699940"/>
            <a:chExt cy="574000" cx="1744120"/>
          </a:xfrm>
        </p:grpSpPr>
        <p:sp>
          <p:nvSpPr>
            <p:cNvPr id="108" name="SubTopic"/>
            <p:cNvSpPr/>
            <p:nvPr/>
          </p:nvSpPr>
          <p:spPr>
            <a:xfrm>
              <a:off y="3288359" x="3720940"/>
              <a:ext cy="532000" cx="1702120"/>
            </a:xfrm>
            <a:custGeom>
              <a:avLst/>
              <a:gdLst>
                <a:gd fmla="*/ 88340 w 1702120" name="rtl"/>
                <a:gd fmla="*/ 79800 h 532000" name="rtt"/>
                <a:gd fmla="*/ 1292340 w 1702120" name="rtr"/>
                <a:gd fmla="*/ 443800 h 532000" name="rtb"/>
              </a:gdLst>
              <a:ahLst/>
              <a:cxnLst/>
              <a:rect t="rtt" l="rtl" b="rtb" r="rtr"/>
              <a:pathLst>
                <a:path w="1702120" h="532000">
                  <a:moveTo>
                    <a:pt y="0" x="0"/>
                  </a:moveTo>
                  <a:lnTo>
                    <a:pt y="0" x="1329720"/>
                  </a:lnTo>
                  <a:lnTo>
                    <a:pt y="266000" x="1702120"/>
                  </a:lnTo>
                  <a:lnTo>
                    <a:pt y="530380" x="1329720"/>
                  </a:lnTo>
                  <a:lnTo>
                    <a:pt y="532000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FFFFFF"/>
            </a:solidFill>
            <a:ln cap="flat" w="21000">
              <a:solidFill>
                <a:srgbClr val="000000"/>
              </a:solidFill>
              <a:round/>
            </a:ln>
          </p:spPr>
          <p:txBody>
            <a:bodyPr rIns="0" lIns="0" bIns="11000" rtlCol="0" anchor="ctr" wrap="none" tIns="0"/>
            <a:lstStyle/>
            <a:p>
              <a:pPr algn="ctr">
                <a:lnSpc>
                  <a:spcPct val="100000"/>
                </a:lnSpc>
              </a:pPr>
              <a:r>
                <a:rPr sz="2100">
                  <a:solidFill>
                    <a:srgbClr val="303030"/>
                  </a:solidFill>
                  <a:latin typeface="STKaiti"/>
                </a:rPr>
                <a:t>中美合作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000100" name="頁面-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grpSp>
        <p:nvGrpSpPr>
          <p:cNvPr id="174" name="Group174"/>
          <p:cNvGrpSpPr/>
          <p:nvPr/>
        </p:nvGrpSpPr>
        <p:grpSpPr>
          <a:xfrm>
            <a:off y="3013226" x="357946"/>
            <a:ext cy="834250" cx="8455488"/>
            <a:chOff y="3013226" x="357946"/>
            <a:chExt cy="834250" cx="8455488"/>
          </a:xfrm>
        </p:grpSpPr>
        <p:sp>
          <p:nvSpPr>
            <p:cNvPr id="115" name="MMConnector"/>
            <p:cNvSpPr/>
            <p:nvPr/>
          </p:nvSpPr>
          <p:spPr>
            <a:xfrm>
              <a:off y="4038089" x="2195458"/>
              <a:ext cy="14100" cx="609120"/>
            </a:xfrm>
            <a:custGeom>
              <a:avLst/>
              <a:gdLst/>
              <a:pathLst>
                <a:path w="609120" h="14100" fill="none">
                  <a:moveTo>
                    <a:pt y="0" x="-304560"/>
                  </a:moveTo>
                  <a:lnTo>
                    <a:pt y="0" x="-149460"/>
                  </a:lnTo>
                  <a:cubicBezTo>
                    <a:pt y="0" x="79975"/>
                    <a:pt y="0" x="79975"/>
                    <a:pt y="0" x="304560"/>
                  </a:cubicBezTo>
                </a:path>
              </a:pathLst>
            </a:custGeom>
            <a:noFill/>
            <a:ln cap="rnd" w="14100">
              <a:solidFill>
                <a:srgbClr val="454545"/>
              </a:solidFill>
              <a:round/>
              <a:tailEnd w="sm" len="sm" type="stealth"/>
            </a:ln>
          </p:spPr>
        </p:sp>
        <p:sp>
          <p:nvSpPr>
            <p:cNvPr id="118" name="MMConnector"/>
            <p:cNvSpPr/>
            <p:nvPr/>
          </p:nvSpPr>
          <p:spPr>
            <a:xfrm>
              <a:off y="4150301" x="4847950"/>
              <a:ext cy="224425" cx="454020"/>
            </a:xfrm>
            <a:custGeom>
              <a:avLst/>
              <a:gdLst/>
              <a:pathLst>
                <a:path w="454020" h="224425" fill="none">
                  <a:moveTo>
                    <a:pt y="-112213" x="-149460"/>
                  </a:moveTo>
                  <a:cubicBezTo>
                    <a:pt y="112212" x="79975"/>
                    <a:pt y="112212" x="79975"/>
                    <a:pt y="112212" x="304560"/>
                  </a:cubicBezTo>
                </a:path>
              </a:pathLst>
            </a:custGeom>
            <a:noFill/>
            <a:ln cap="rnd" w="14100">
              <a:solidFill>
                <a:srgbClr val="454545"/>
              </a:solidFill>
              <a:round/>
              <a:tailEnd w="sm" len="sm" type="stealth"/>
            </a:ln>
          </p:spPr>
        </p:sp>
        <p:sp>
          <p:nvSpPr>
            <p:cNvPr id="120" name="MMConnector"/>
            <p:cNvSpPr/>
            <p:nvPr/>
          </p:nvSpPr>
          <p:spPr>
            <a:xfrm>
              <a:off y="4262514" x="6599922"/>
              <a:ext cy="14100" cx="609120"/>
            </a:xfrm>
            <a:custGeom>
              <a:avLst/>
              <a:gdLst/>
              <a:pathLst>
                <a:path w="609120" h="14100" fill="none">
                  <a:moveTo>
                    <a:pt y="0" x="-304560"/>
                  </a:moveTo>
                  <a:lnTo>
                    <a:pt y="0" x="-149460"/>
                  </a:lnTo>
                  <a:cubicBezTo>
                    <a:pt y="0" x="79975"/>
                    <a:pt y="0" x="79975"/>
                    <a:pt y="0" x="304560"/>
                  </a:cubicBezTo>
                </a:path>
              </a:pathLst>
            </a:custGeom>
            <a:noFill/>
            <a:ln cap="rnd" w="14100">
              <a:solidFill>
                <a:srgbClr val="454545"/>
              </a:solidFill>
              <a:round/>
              <a:tailEnd w="sm" len="sm" type="stealth"/>
            </a:ln>
          </p:spPr>
        </p:sp>
        <p:sp>
          <p:nvSpPr>
            <p:cNvPr id="124" name="MMConnector"/>
            <p:cNvSpPr/>
            <p:nvPr/>
          </p:nvSpPr>
          <p:spPr>
            <a:xfrm>
              <a:off y="3925876" x="4847950"/>
              <a:ext cy="224425" cx="609120"/>
            </a:xfrm>
            <a:custGeom>
              <a:avLst/>
              <a:gdLst/>
              <a:pathLst>
                <a:path w="609120" h="224425" fill="none">
                  <a:moveTo>
                    <a:pt y="112213" x="-304560"/>
                  </a:moveTo>
                  <a:lnTo>
                    <a:pt y="112213" x="-149460"/>
                  </a:lnTo>
                  <a:cubicBezTo>
                    <a:pt y="-112212" x="79975"/>
                    <a:pt y="-112212" x="79975"/>
                    <a:pt y="-112212" x="304560"/>
                  </a:cubicBezTo>
                </a:path>
              </a:pathLst>
            </a:custGeom>
            <a:noFill/>
            <a:ln cap="rnd" w="14100">
              <a:solidFill>
                <a:srgbClr val="454545"/>
              </a:solidFill>
              <a:round/>
              <a:tailEnd w="sm" len="sm" type="stealth"/>
            </a:ln>
          </p:spPr>
        </p:sp>
        <p:sp>
          <p:nvSpPr>
            <p:cNvPr id="128" name="MMConnector"/>
            <p:cNvSpPr/>
            <p:nvPr/>
          </p:nvSpPr>
          <p:spPr>
            <a:xfrm>
              <a:off y="3813664" x="6599922"/>
              <a:ext cy="14100" cx="609120"/>
            </a:xfrm>
            <a:custGeom>
              <a:avLst/>
              <a:gdLst/>
              <a:pathLst>
                <a:path w="609120" h="14100" fill="none">
                  <a:moveTo>
                    <a:pt y="0" x="-304560"/>
                  </a:moveTo>
                  <a:lnTo>
                    <a:pt y="0" x="-149460"/>
                  </a:lnTo>
                  <a:cubicBezTo>
                    <a:pt y="0" x="79975"/>
                    <a:pt y="0" x="79975"/>
                    <a:pt y="0" x="304560"/>
                  </a:cubicBezTo>
                </a:path>
              </a:pathLst>
            </a:custGeom>
            <a:noFill/>
            <a:ln cap="rnd" w="14100">
              <a:solidFill>
                <a:srgbClr val="454545"/>
              </a:solidFill>
              <a:round/>
              <a:tailEnd w="sm" len="sm" type="stealth"/>
            </a:ln>
          </p:spPr>
        </p:sp>
        <p:sp>
          <p:nvSpPr>
            <p:cNvPr id="112" name="SubTopic"/>
            <p:cNvSpPr/>
            <p:nvPr/>
          </p:nvSpPr>
          <p:spPr>
            <a:xfrm>
              <a:off y="3859489" x="372046"/>
              <a:ext cy="357200" cx="1518852"/>
            </a:xfrm>
            <a:custGeom>
              <a:avLst/>
              <a:gdLst>
                <a:gd fmla="*/ 59314 w 1518852" name="rtl"/>
                <a:gd fmla="*/ 53580 h 357200" name="rtt"/>
                <a:gd fmla="*/ 1243714 w 1518852" name="rtr"/>
                <a:gd fmla="*/ 297980 h 357200" name="rtb"/>
              </a:gdLst>
              <a:ahLst/>
              <a:cxnLst/>
              <a:rect t="rtt" l="rtl" b="rtb" r="rtr"/>
              <a:pathLst>
                <a:path w="1518852" h="357200">
                  <a:moveTo>
                    <a:pt y="0" x="0"/>
                  </a:moveTo>
                  <a:lnTo>
                    <a:pt y="0" x="1268812"/>
                  </a:lnTo>
                  <a:lnTo>
                    <a:pt y="178600" x="1518852"/>
                  </a:lnTo>
                  <a:lnTo>
                    <a:pt y="356112" x="1268812"/>
                  </a:lnTo>
                  <a:lnTo>
                    <a:pt y="357200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FFFFFF"/>
            </a:solidFill>
            <a:ln cap="flat" w="14100">
              <a:solidFill>
                <a:srgbClr val="454545"/>
              </a:solidFill>
              <a:round/>
            </a:ln>
          </p:spPr>
          <p:txBody>
            <a:bodyPr rIns="0" lIns="0" bIns="11000" rtlCol="0" anchor="ctr" wrap="none" tIns="0"/>
            <a:lstStyle/>
            <a:p>
              <a:pPr algn="ctr">
                <a:lnSpc>
                  <a:spcPct val="100000"/>
                </a:lnSpc>
              </a:pPr>
              <a:r>
                <a:rPr sz="1410">
                  <a:solidFill>
                    <a:srgbClr val="303030"/>
                  </a:solidFill>
                  <a:latin typeface="STKaiti"/>
                </a:rPr>
                <a:t>中美經濟關係</a:t>
              </a:r>
            </a:p>
          </p:txBody>
        </p:sp>
        <p:sp>
          <p:nvSpPr>
            <p:cNvPr id="114" name="SubTopic"/>
            <p:cNvSpPr/>
            <p:nvPr/>
          </p:nvSpPr>
          <p:spPr>
            <a:xfrm>
              <a:off y="3812489" x="2500018"/>
              <a:ext cy="451200" cx="2043372"/>
            </a:xfrm>
            <a:custGeom>
              <a:avLst/>
              <a:gdLst>
                <a:gd fmla="*/ 83754 w 2043372" name="rtl"/>
                <a:gd fmla="*/ 53580 h 451200" name="rtt"/>
                <a:gd fmla="*/ 1719354 w 2043372" name="rtr"/>
                <a:gd fmla="*/ 391980 h 451200" name="rtb"/>
              </a:gdLst>
              <a:ahLst/>
              <a:cxnLst/>
              <a:rect t="rtt" l="rtl" b="rtb" r="rtr"/>
              <a:pathLst>
                <a:path w="2043372" h="451200">
                  <a:moveTo>
                    <a:pt y="0" x="0"/>
                  </a:moveTo>
                  <a:lnTo>
                    <a:pt y="0" x="1727532"/>
                  </a:lnTo>
                  <a:lnTo>
                    <a:pt y="225600" x="2043372"/>
                  </a:lnTo>
                  <a:lnTo>
                    <a:pt y="449826" x="1727532"/>
                  </a:lnTo>
                  <a:lnTo>
                    <a:pt y="451200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FFFFFF"/>
            </a:solidFill>
            <a:ln cap="flat" w="14100">
              <a:solidFill>
                <a:srgbClr val="000000"/>
              </a:solidFill>
              <a:round/>
            </a:ln>
          </p:spPr>
          <p:txBody>
            <a:bodyPr rIns="0" lIns="0" bIns="11000" rtlCol="0" anchor="ctr" wrap="none" tIns="0"/>
            <a:lstStyle/>
            <a:p>
              <a:pPr algn="ctr">
                <a:lnSpc>
                  <a:spcPct val="100000"/>
                </a:lnSpc>
              </a:pPr>
              <a:r>
                <a:rPr sz="1974">
                  <a:solidFill>
                    <a:srgbClr val="303030"/>
                  </a:solidFill>
                  <a:latin typeface="STKaiti"/>
                </a:rPr>
                <a:t>中美經濟合作</a:t>
              </a:r>
            </a:p>
          </p:txBody>
        </p:sp>
        <p:sp>
          <p:nvSpPr>
            <p:cNvPr id="117" name="SubTopic"/>
            <p:cNvSpPr/>
            <p:nvPr/>
          </p:nvSpPr>
          <p:spPr>
            <a:xfrm>
              <a:off y="4083914" x="5152510"/>
              <a:ext cy="357200" cx="1142852"/>
            </a:xfrm>
            <a:custGeom>
              <a:avLst/>
              <a:gdLst>
                <a:gd fmla="*/ 59314 w 1142852" name="rtl"/>
                <a:gd fmla="*/ 53580 h 357200" name="rtt"/>
                <a:gd fmla="*/ 867714 w 1142852" name="rtr"/>
                <a:gd fmla="*/ 297980 h 357200" name="rtb"/>
              </a:gdLst>
              <a:ahLst/>
              <a:cxnLst/>
              <a:rect t="rtt" l="rtl" b="rtb" r="rtr"/>
              <a:pathLst>
                <a:path w="1142852" h="357200">
                  <a:moveTo>
                    <a:pt y="0" x="0"/>
                  </a:moveTo>
                  <a:lnTo>
                    <a:pt y="0" x="892812"/>
                  </a:lnTo>
                  <a:lnTo>
                    <a:pt y="178600" x="1142852"/>
                  </a:lnTo>
                  <a:lnTo>
                    <a:pt y="356112" x="892812"/>
                  </a:lnTo>
                  <a:lnTo>
                    <a:pt y="357200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FFFFFF"/>
            </a:solidFill>
            <a:ln cap="flat" w="14100">
              <a:solidFill>
                <a:srgbClr val="000000"/>
              </a:solidFill>
              <a:round/>
            </a:ln>
          </p:spPr>
          <p:txBody>
            <a:bodyPr rIns="0" lIns="0" bIns="11000" rtlCol="0" anchor="ctr" wrap="none" tIns="0"/>
            <a:lstStyle/>
            <a:p>
              <a:pPr algn="ctr">
                <a:lnSpc>
                  <a:spcPct val="100000"/>
                </a:lnSpc>
              </a:pPr>
              <a:r>
                <a:rPr sz="1410">
                  <a:solidFill>
                    <a:srgbClr val="303030"/>
                  </a:solidFill>
                  <a:latin typeface="STKaiti"/>
                </a:rPr>
                <a:t>中美投資</a:t>
              </a:r>
            </a:p>
          </p:txBody>
        </p:sp>
        <p:sp>
          <p:nvSpPr>
            <p:cNvPr id="119" name="SubTopic"/>
            <p:cNvSpPr/>
            <p:nvPr/>
          </p:nvSpPr>
          <p:spPr>
            <a:xfrm>
              <a:off y="4083914" x="6904482"/>
              <a:ext cy="357200" cx="1894852"/>
            </a:xfrm>
            <a:custGeom>
              <a:avLst/>
              <a:gdLst>
                <a:gd fmla="*/ 59314 w 1894852" name="rtl"/>
                <a:gd fmla="*/ 53580 h 357200" name="rtt"/>
                <a:gd fmla="*/ 1619714 w 1894852" name="rtr"/>
                <a:gd fmla="*/ 297980 h 357200" name="rtb"/>
              </a:gdLst>
              <a:ahLst/>
              <a:cxnLst/>
              <a:rect t="rtt" l="rtl" b="rtb" r="rtr"/>
              <a:pathLst>
                <a:path w="1894852" h="357200">
                  <a:moveTo>
                    <a:pt y="0" x="0"/>
                  </a:moveTo>
                  <a:lnTo>
                    <a:pt y="0" x="1644812"/>
                  </a:lnTo>
                  <a:lnTo>
                    <a:pt y="178600" x="1894852"/>
                  </a:lnTo>
                  <a:lnTo>
                    <a:pt y="356112" x="1644812"/>
                  </a:lnTo>
                  <a:lnTo>
                    <a:pt y="357200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FFFFFF"/>
            </a:solidFill>
            <a:ln cap="flat" w="14100">
              <a:solidFill>
                <a:srgbClr val="000000"/>
              </a:solidFill>
              <a:round/>
            </a:ln>
          </p:spPr>
          <p:txBody>
            <a:bodyPr rIns="0" lIns="0" bIns="11000" rtlCol="0" anchor="ctr" wrap="none" tIns="0"/>
            <a:lstStyle/>
            <a:p>
              <a:pPr algn="ctr">
                <a:lnSpc>
                  <a:spcPct val="100000"/>
                </a:lnSpc>
              </a:pPr>
              <a:r>
                <a:rPr sz="1410">
                  <a:solidFill>
                    <a:srgbClr val="303030"/>
                  </a:solidFill>
                  <a:latin typeface="STKaiti"/>
                </a:rPr>
                <a:t>中美雙邊投資協定</a:t>
              </a:r>
            </a:p>
          </p:txBody>
        </p:sp>
        <p:sp>
          <p:nvSpPr>
            <p:cNvPr id="123" name="SubTopic"/>
            <p:cNvSpPr/>
            <p:nvPr/>
          </p:nvSpPr>
          <p:spPr>
            <a:xfrm>
              <a:off y="3635064" x="5152510"/>
              <a:ext cy="357200" cx="1142852"/>
            </a:xfrm>
            <a:custGeom>
              <a:avLst/>
              <a:gdLst>
                <a:gd fmla="*/ 59314 w 1142852" name="rtl"/>
                <a:gd fmla="*/ 53580 h 357200" name="rtt"/>
                <a:gd fmla="*/ 867714 w 1142852" name="rtr"/>
                <a:gd fmla="*/ 297980 h 357200" name="rtb"/>
              </a:gdLst>
              <a:ahLst/>
              <a:cxnLst/>
              <a:rect t="rtt" l="rtl" b="rtb" r="rtr"/>
              <a:pathLst>
                <a:path w="1142852" h="357200">
                  <a:moveTo>
                    <a:pt y="0" x="0"/>
                  </a:moveTo>
                  <a:lnTo>
                    <a:pt y="0" x="892812"/>
                  </a:lnTo>
                  <a:lnTo>
                    <a:pt y="178600" x="1142852"/>
                  </a:lnTo>
                  <a:lnTo>
                    <a:pt y="356112" x="892812"/>
                  </a:lnTo>
                  <a:lnTo>
                    <a:pt y="357200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FFFFFF"/>
            </a:solidFill>
            <a:ln cap="flat" w="14100">
              <a:solidFill>
                <a:srgbClr val="000000"/>
              </a:solidFill>
              <a:round/>
            </a:ln>
          </p:spPr>
          <p:txBody>
            <a:bodyPr rIns="0" lIns="0" bIns="11000" rtlCol="0" anchor="ctr" wrap="none" tIns="0"/>
            <a:lstStyle/>
            <a:p>
              <a:pPr algn="ctr">
                <a:lnSpc>
                  <a:spcPct val="100000"/>
                </a:lnSpc>
              </a:pPr>
              <a:r>
                <a:rPr sz="1410">
                  <a:solidFill>
                    <a:srgbClr val="303030"/>
                  </a:solidFill>
                  <a:latin typeface="STKaiti"/>
                </a:rPr>
                <a:t>中美貿易</a:t>
              </a:r>
            </a:p>
          </p:txBody>
        </p:sp>
        <p:sp>
          <p:nvSpPr>
            <p:cNvPr id="127" name="SubTopic"/>
            <p:cNvSpPr/>
            <p:nvPr/>
          </p:nvSpPr>
          <p:spPr>
            <a:xfrm>
              <a:off y="3635064" x="6904482"/>
              <a:ext cy="357200" cx="1518852"/>
            </a:xfrm>
            <a:custGeom>
              <a:avLst/>
              <a:gdLst>
                <a:gd fmla="*/ 59314 w 1518852" name="rtl"/>
                <a:gd fmla="*/ 53580 h 357200" name="rtt"/>
                <a:gd fmla="*/ 1243714 w 1518852" name="rtr"/>
                <a:gd fmla="*/ 297980 h 357200" name="rtb"/>
              </a:gdLst>
              <a:ahLst/>
              <a:cxnLst/>
              <a:rect t="rtt" l="rtl" b="rtb" r="rtr"/>
              <a:pathLst>
                <a:path w="1518852" h="357200">
                  <a:moveTo>
                    <a:pt y="0" x="0"/>
                  </a:moveTo>
                  <a:lnTo>
                    <a:pt y="0" x="1268812"/>
                  </a:lnTo>
                  <a:lnTo>
                    <a:pt y="178600" x="1518852"/>
                  </a:lnTo>
                  <a:lnTo>
                    <a:pt y="356112" x="1268812"/>
                  </a:lnTo>
                  <a:lnTo>
                    <a:pt y="357200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FFFFFF"/>
            </a:solidFill>
            <a:ln cap="flat" w="14100">
              <a:solidFill>
                <a:srgbClr val="000000"/>
              </a:solidFill>
              <a:round/>
            </a:ln>
          </p:spPr>
          <p:txBody>
            <a:bodyPr rIns="0" lIns="0" bIns="11000" rtlCol="0" anchor="ctr" wrap="none" tIns="0"/>
            <a:lstStyle/>
            <a:p>
              <a:pPr algn="ctr">
                <a:lnSpc>
                  <a:spcPct val="100000"/>
                </a:lnSpc>
              </a:pPr>
              <a:r>
                <a:rPr sz="1410">
                  <a:solidFill>
                    <a:srgbClr val="303030"/>
                  </a:solidFill>
                  <a:latin typeface="STKaiti"/>
                </a:rPr>
                <a:t>中美貿易摩擦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TotalTime>0</TotalTime>
  <Words>0</Words>
  <Application>Microsoft Office PowerPoint</Application>
  <PresentationFormat>0</PresentationFormat>
  <Paragraphs>0</Paragraphs>
  <Slides>8</Slides>
  <Notes>0</Notes>
  <HiddenSlides>0</HiddenSlides>
  <MMClips>0</MMClips>
  <ScaleCrop>false</ScaleCrop>
  <HeadingPairs>
    <vt:vector size="4" baseType="variant">
      <vt:variant>
        <vt:lpstr>Topic</vt:lpstr>
      </vt:variant>
      <vt:variant>
        <vt:i4>1</vt:i4>
      </vt:variant>
      <vt:variant>
        <vt:lpstr>Slide Title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xsi="http://www.w3.org/2001/XMLSchema-instance" xmlns:dcterms="http://purl.org/dc/terms/" xmlns:dcmitype="http://purl.org/dc/dcmitype/" xmlns:dc="http://purl.org/dc/elements/1.1/">
  <dc:title>PowerPoint Presentation</dc:title>
  <dc:creator>AI</dc:creator>
  <cp:lastModifiedBy>AI</cp:lastModifiedBy>
  <cp:revision>1</cp:revision>
  <dcterms:created xsi:type="dcterms:W3CDTF">2022-11-18T08:08:58Z</dcterms:created>
  <dcterms:modified xsi:type="dcterms:W3CDTF">2022-11-18T08:08:58Z</dcterms:modified>
</cp:coreProperties>
</file>